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 CORAZÓN DEL SERVIDOR · MENSAJE 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SIRVIENDO EN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778240" cy="160020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11155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ESPÍRITU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SANTO.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TEXTO BASE: ZACARÍAS 4:6</a:t>
            </a:r>
            <a:endParaRPr lang="en-US" sz="3200" dirty="0"/>
          </a:p>
        </p:txBody>
      </p:sp>
      <p:pic>
        <p:nvPicPr>
          <p:cNvPr id="8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5440680"/>
            <a:ext cx="17830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 CORAZÓN DEL SERVIDOR · INTRODUCCIÓN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TODOS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9692640" cy="146304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060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SERVIMOS.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9784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pregunta no es si servimos, sino con qué: ¿con nuestra fuerza o con el Espíritu de Dios? Servir sin el Espíritu no es solo “menos efectivo”: es un peligro, para nosotros y para los demás.</a:t>
            </a:r>
            <a:endParaRPr lang="en-US" sz="2400" dirty="0"/>
          </a:p>
        </p:txBody>
      </p:sp>
      <p:pic>
        <p:nvPicPr>
          <p:cNvPr id="7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53492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1 · LLAMADOS A SERVIR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LLAMADOS A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SERVIR EN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9692640" cy="132588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ESPÍRITU.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0927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llamado a servir no nace de nuestra iniciativa ni capacidad: viene de Dios.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1 · A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LLAMADO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DIVINO.</a:t>
            </a:r>
            <a:endParaRPr lang="en-US" sz="62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ZACARÍAS 4:6 · 1 CO 12:4‑6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“Hay diversidad de dones, pero el mismo Espíritu... el mismo Señor... el mismo Dios.” El origen de todo lo que hacemos en la iglesia es uno solo.</a:t>
            </a:r>
            <a:endParaRPr lang="en-US" sz="2100" dirty="0"/>
          </a:p>
        </p:txBody>
      </p:sp>
      <p:pic>
        <p:nvPicPr>
          <p:cNvPr id="10" name="Image 1" descr="icons_v2/1a_divin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SOLO ORIGEN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MISMO ESPÍRITU, EL MISMO DIOS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1 · B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LLAMADO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CAPACITADO.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HECHOS 1:8 · LUCAS 24:49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“Investidos de poder desde lo alto.” No salimos con lo que tenemos: esperamos y recibimos lo que Dios da.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b="1" u="sng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DYNAMIS: 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poder que viene de afuera, no esfuerzo propio.</a:t>
            </a:r>
            <a:endParaRPr lang="en-US" sz="1900" dirty="0"/>
          </a:p>
        </p:txBody>
      </p:sp>
      <p:pic>
        <p:nvPicPr>
          <p:cNvPr id="10" name="Image 1" descr="icons_v2/1b_capacitad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PODER DE AFUERA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INVESTIDOS DESDE LO ALTO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1 · C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LLAMADO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INTEGRAL.</a:t>
            </a:r>
            <a:endParaRPr lang="en-US" sz="62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ÉXODO 31:2‑5 · 1 P 4:10‑11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Bezaleel es lleno del Espíritu “en sabiduría, inteligencia, ciencia y en todo arte.” No hay división entre lo espiritual y lo práctico en el servicio.</a:t>
            </a:r>
            <a:endParaRPr lang="en-US" sz="2100" dirty="0"/>
          </a:p>
        </p:txBody>
      </p:sp>
      <p:pic>
        <p:nvPicPr>
          <p:cNvPr id="10" name="Image 1" descr="icons_v2/1c_integr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 ESPIRITUAL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Y LO PRÁCTICO, SIN DIVISIÓN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1 · APLICACIÓN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APLICACIÓN</a:t>
            </a:r>
            <a:endParaRPr lang="en-US" sz="9200" dirty="0"/>
          </a:p>
        </p:txBody>
      </p:sp>
      <p:sp>
        <p:nvSpPr>
          <p:cNvPr id="5" name="Shape 2"/>
          <p:cNvSpPr/>
          <p:nvPr/>
        </p:nvSpPr>
        <p:spPr>
          <a:xfrm>
            <a:off x="457200" y="2560320"/>
            <a:ext cx="9692640" cy="146304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6060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PUNTO 1.</a:t>
            </a:r>
            <a:endParaRPr lang="en-US" sz="9200" dirty="0"/>
          </a:p>
        </p:txBody>
      </p:sp>
      <p:sp>
        <p:nvSpPr>
          <p:cNvPr id="7" name="Shape 4"/>
          <p:cNvSpPr/>
          <p:nvPr/>
        </p:nvSpPr>
        <p:spPr>
          <a:xfrm>
            <a:off x="640080" y="4251960"/>
            <a:ext cx="10927080" cy="2423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251960"/>
            <a:ext cx="10195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¿Reconocemos que el llamado y la capacidad para servir tienen el mismo origen? Necesitamos dejar de compararnos con otros y agradecer la fuente que lo hace posible.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B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2 · EL RIESGO</a:t>
            </a:r>
            <a:endParaRPr lang="en-US" sz="2600" dirty="0"/>
          </a:p>
        </p:txBody>
      </p:sp>
      <p:pic>
        <p:nvPicPr>
          <p:cNvPr id="3" name="Image 0" descr="logo_gre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PELIGRO DE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SERVIR CON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9692640" cy="1325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FUERZA PROPIA.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0927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Tres ejemplos bíblicos de lo que pasa cuando servimos por nuestra cuenta.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DB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2 · A</a:t>
            </a:r>
            <a:endParaRPr lang="en-US" sz="2600" dirty="0"/>
          </a:p>
        </p:txBody>
      </p:sp>
      <p:pic>
        <p:nvPicPr>
          <p:cNvPr id="3" name="Image 0" descr="logo_gre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5577840" cy="12070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IMPACIENCIA.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7F1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NÚMEROS 20:7‑12 · SAL 106:32‑33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Moisés golpea la roca en lugar de hablarle. “Le fue mal a Moisés... porque hicieron rebelar a su espíritu, y habló precipitadamente con sus labios.”</a:t>
            </a:r>
            <a:endParaRPr lang="en-US" sz="2100" dirty="0"/>
          </a:p>
        </p:txBody>
      </p:sp>
      <p:pic>
        <p:nvPicPr>
          <p:cNvPr id="9" name="Image 1" descr="icons_v2/2a_impaci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1" name="Text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GOLPEAR LA ROCA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 VEZ DE HABLARLE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DB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2 · B</a:t>
            </a:r>
            <a:endParaRPr lang="en-US" sz="2600" dirty="0"/>
          </a:p>
        </p:txBody>
      </p:sp>
      <p:pic>
        <p:nvPicPr>
          <p:cNvPr id="3" name="Image 0" descr="logo_gre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5577840" cy="12070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PRECIPITACIÓN.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7F1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SAMUEL 13:8‑14 · IS 28:16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Saúl no espera a Samuel y ofrece él mismo el sacrificio. “El que confiare, no se apresure.”</a:t>
            </a:r>
            <a:endParaRPr lang="en-US" sz="2100" dirty="0"/>
          </a:p>
        </p:txBody>
      </p:sp>
      <p:pic>
        <p:nvPicPr>
          <p:cNvPr id="9" name="Image 1" descr="icons_v2/2b_precipitac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1" name="Text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ACTUAR SOLOS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SIN ESPERAR A DIOS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DB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2 · C</a:t>
            </a:r>
            <a:endParaRPr lang="en-US" sz="2600" dirty="0"/>
          </a:p>
        </p:txBody>
      </p:sp>
      <p:pic>
        <p:nvPicPr>
          <p:cNvPr id="3" name="Image 0" descr="logo_green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5577840" cy="12070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AGOTAMIENTO.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7F1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REYES 19:1‑4 · GÁLATAS 6:9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Después de su mayor victoria, Elías colapsa y pide morir. “No nos cansemos de hacer bien... si no desmayamos” — pero ese aguante no puede salir de nuestras propias fuerzas.</a:t>
            </a:r>
            <a:endParaRPr lang="en-US" sz="2100" dirty="0"/>
          </a:p>
        </p:txBody>
      </p:sp>
      <p:pic>
        <p:nvPicPr>
          <p:cNvPr id="9" name="Image 1" descr="icons_v2/2c_agotamient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1" name="Text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6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DESPUÉS DE LA VICTORIA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solidFill>
            <a:srgbClr val="F7F1E8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1A1A1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COLAPSO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2 · APLICACIÓN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APLICACIÓN</a:t>
            </a:r>
            <a:endParaRPr lang="en-US" sz="9200" dirty="0"/>
          </a:p>
        </p:txBody>
      </p:sp>
      <p:sp>
        <p:nvSpPr>
          <p:cNvPr id="5" name="Shape 2"/>
          <p:cNvSpPr/>
          <p:nvPr/>
        </p:nvSpPr>
        <p:spPr>
          <a:xfrm>
            <a:off x="457200" y="2560320"/>
            <a:ext cx="9692640" cy="146304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6060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PUNTO 2.</a:t>
            </a:r>
            <a:endParaRPr lang="en-US" sz="9200" dirty="0"/>
          </a:p>
        </p:txBody>
      </p:sp>
      <p:sp>
        <p:nvSpPr>
          <p:cNvPr id="7" name="Shape 4"/>
          <p:cNvSpPr/>
          <p:nvPr/>
        </p:nvSpPr>
        <p:spPr>
          <a:xfrm>
            <a:off x="640080" y="4251960"/>
            <a:ext cx="10927080" cy="2423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251960"/>
            <a:ext cx="10195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¿Estamos sirviendo agotados y frustrados, “golpeando la roca” en lugar de esperar a Dios? Debemos reconocer cuando el servicio se volvió una carga que cargamos solos.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3 · EL MODELO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 ES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SERVIR EN</a:t>
            </a:r>
            <a:endParaRPr lang="en-US" sz="8000" dirty="0"/>
          </a:p>
        </p:txBody>
      </p:sp>
      <p:sp>
        <p:nvSpPr>
          <p:cNvPr id="6" name="Shape 3"/>
          <p:cNvSpPr/>
          <p:nvPr/>
        </p:nvSpPr>
        <p:spPr>
          <a:xfrm>
            <a:off x="457200" y="3657600"/>
            <a:ext cx="9692640" cy="132588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03320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ESPÍRITU.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0927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Tres marcas de un servicio sostenido por el Espíritu, no por nosotros.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3 · A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SENSIBLES A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SU DIRECCIÓN.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HECHOS 13:2‑3 · JUAN 16:13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iglesia en Antioquía ministra y ayuna, y en ese contexto “dijo el Espíritu Santo: Apartadme...” El servicio nace de escuchar antes de actuar.</a:t>
            </a:r>
            <a:endParaRPr lang="en-US" sz="2100" dirty="0"/>
          </a:p>
        </p:txBody>
      </p:sp>
      <p:pic>
        <p:nvPicPr>
          <p:cNvPr id="10" name="Image 1" descr="icons_v2/3a_direcc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ESCUCHAR PRIMERO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LUEGO ACTUAR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3 · B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RENDIDOS POR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COMPLETO.</a:t>
            </a:r>
            <a:endParaRPr lang="en-US" sz="62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ROMANOS 12:1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“Que presentéis vuestros cuerpos en sacrificio vivo” (Ro. 12:1). No es talento: es entrega total.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“Moody no tiene el monopolio del Espíritu; el Espíritu tiene el monopolio de Moody.”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BE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— D. L. Moody</a:t>
            </a:r>
            <a:endParaRPr lang="en-US" sz="1800" dirty="0"/>
          </a:p>
        </p:txBody>
      </p:sp>
      <p:pic>
        <p:nvPicPr>
          <p:cNvPr id="10" name="Image 1" descr="icons_v2/3b_rendid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SACRIFICIO VIVO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ENTREGA TOTAL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3 · C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43000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DILIGENTES EN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304288"/>
            <a:ext cx="5577840" cy="1207008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350008"/>
            <a:ext cx="11155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100" kern="0" dirty="0">
                <a:solidFill>
                  <a:srgbClr val="F7F1E8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ESPÍRITU.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11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ROMANOS 12:11 · COL 3:23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“En lo que requiere diligencia, no perezosos; fervientes en espíritu, sirviendo al Señor.” Servir en el Espíritu no es pasividad: es esfuerzo pleno, con otro motor.</a:t>
            </a:r>
            <a:endParaRPr lang="en-US" sz="2100" dirty="0"/>
          </a:p>
        </p:txBody>
      </p:sp>
      <p:pic>
        <p:nvPicPr>
          <p:cNvPr id="10" name="Image 1" descr="icons_v2/3c_diligen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960120"/>
            <a:ext cx="4892040" cy="4892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675120" y="32004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ESFUERZO PLENO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5989320"/>
            <a:ext cx="3931920" cy="548640"/>
          </a:xfrm>
          <a:prstGeom prst="rect">
            <a:avLst/>
          </a:prstGeom>
          <a:noFill/>
          <a:ln/>
        </p:spPr>
        <p:txBody>
          <a:bodyPr wrap="square" lIns="201168" tIns="201168" rIns="201168" bIns="201168" rtlCol="0" anchor="ctr"/>
          <a:lstStyle/>
          <a:p>
            <a:pPr algn="l" indent="0" marL="0">
              <a:buNone/>
            </a:pPr>
            <a:r>
              <a:rPr lang="en-US" sz="1800" spc="100" kern="0" dirty="0">
                <a:solidFill>
                  <a:srgbClr val="F7F1E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PERO CON OTRO MOTOR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PUNTO 3 · APLICACIÓN</a:t>
            </a:r>
            <a:endParaRPr lang="en-US" sz="2600" dirty="0"/>
          </a:p>
        </p:txBody>
      </p:sp>
      <p:pic>
        <p:nvPicPr>
          <p:cNvPr id="3" name="Image 0" descr="logo_cream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228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APLICACIÓN</a:t>
            </a:r>
            <a:endParaRPr lang="en-US" sz="9200" dirty="0"/>
          </a:p>
        </p:txBody>
      </p:sp>
      <p:sp>
        <p:nvSpPr>
          <p:cNvPr id="5" name="Shape 2"/>
          <p:cNvSpPr/>
          <p:nvPr/>
        </p:nvSpPr>
        <p:spPr>
          <a:xfrm>
            <a:off x="457200" y="2560320"/>
            <a:ext cx="9692640" cy="146304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6060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PUNTO 3.</a:t>
            </a:r>
            <a:endParaRPr lang="en-US" sz="9200" dirty="0"/>
          </a:p>
        </p:txBody>
      </p:sp>
      <p:sp>
        <p:nvSpPr>
          <p:cNvPr id="7" name="Shape 4"/>
          <p:cNvSpPr/>
          <p:nvPr/>
        </p:nvSpPr>
        <p:spPr>
          <a:xfrm>
            <a:off x="640080" y="4251960"/>
            <a:ext cx="10927080" cy="2423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251960"/>
            <a:ext cx="10195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¿A quién le estamos dando el control de nuestro servicio: a nosotros mismos o al Espíritu? Necesitamos animarnos a soltar ese control.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DB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 CORAZÓN DEL SERVIDOR · ORACIÓN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spc="2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OREMOS.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1280160" y="3383280"/>
            <a:ext cx="960120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3383280"/>
            <a:ext cx="8686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500" dirty="0">
                <a:solidFill>
                  <a:srgbClr val="F7F1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seguir sirviendo, necesitamos una rendición concreta: dejar de pedirle a Dios que bendiga lo que nosotros planeamos, y empezar a pedirle que nos muestre lo que Él ya está haciendo, para sumarnos ahí, con su fuerza.</a:t>
            </a:r>
            <a:endParaRPr lang="en-US" sz="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SIRVIENDO EN EL ESPÍRITU SANTO · EL CORAZÓN DEL SERVIDOR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SERVIR EN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9692640" cy="1051560"/>
          </a:xfrm>
          <a:prstGeom prst="rect">
            <a:avLst/>
          </a:prstGeom>
          <a:solidFill>
            <a:srgbClr val="5DBE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ESPÍRITU,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NO CON NUESTRA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1155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spc="100" kern="0" dirty="0">
                <a:solidFill>
                  <a:srgbClr val="1A1A1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FUERZA.</a:t>
            </a:r>
            <a:endParaRPr lang="en-US" sz="6600" dirty="0"/>
          </a:p>
        </p:txBody>
      </p:sp>
      <p:sp>
        <p:nvSpPr>
          <p:cNvPr id="8" name="Shape 6"/>
          <p:cNvSpPr/>
          <p:nvPr/>
        </p:nvSpPr>
        <p:spPr>
          <a:xfrm>
            <a:off x="449428" y="5989320"/>
            <a:ext cx="2148840" cy="54864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428" y="5989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ZACARÍAS 4:6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35428" y="5989320"/>
            <a:ext cx="2148840" cy="54864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5428" y="5989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ÉXODO 31:2-5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1428" y="5989320"/>
            <a:ext cx="2148840" cy="54864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1428" y="5989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NÚMEROS 20:7-12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07428" y="5989320"/>
            <a:ext cx="2148840" cy="54864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7428" y="5989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HECHOS 13:2-3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93428" y="5989320"/>
            <a:ext cx="2148840" cy="548640"/>
          </a:xfrm>
          <a:prstGeom prst="rect">
            <a:avLst/>
          </a:prstGeom>
          <a:solidFill>
            <a:srgbClr val="F7F1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93428" y="59893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ROMANOS 12:1,11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Sirviendo en el Espíritu Santo</dc:title>
  <dc:subject>PptxGenJS Presentation</dc:subject>
  <dc:creator>Iglesia El Renuevo</dc:creator>
  <cp:lastModifiedBy>Iglesia El Renuevo</cp:lastModifiedBy>
  <cp:revision>1</cp:revision>
  <dcterms:created xsi:type="dcterms:W3CDTF">2026-06-13T20:25:00Z</dcterms:created>
  <dcterms:modified xsi:type="dcterms:W3CDTF">2026-06-13T20:25:00Z</dcterms:modified>
</cp:coreProperties>
</file>