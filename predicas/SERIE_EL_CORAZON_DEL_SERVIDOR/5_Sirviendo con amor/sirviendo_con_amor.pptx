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e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840200" y="533400"/>
            <a:ext cx="838200" cy="838200"/>
          </a:xfrm>
          <a:prstGeom prst="rect">
            <a:avLst/>
          </a:prstGeom>
        </p:spPr>
      </p:pic>
      <p:sp>
        <p:nvSpPr>
          <p:cNvPr id="2" name="kicker">
            <a:extLst>
              <a:ext uri="{FF2B5EF4-FFF2-40B4-BE49-F238E27FC236}">
                <a16:creationId xmlns:a16="http://schemas.microsoft.com/office/drawing/2014/main" id="{ED8E63F6-28C3-4752-9644-7DBDF208694C}"/>
              </a:ext>
            </a:extLst>
          </p:cNvPr>
          <p:cNvSpPr>
            <a:spLocks noGrp="1"/>
          </p:cNvSpPr>
          <p:nvPr/>
        </p:nvSpPr>
        <p:spPr>
          <a:xfrm>
            <a:off x="1143000" y="2381250"/>
            <a:ext cx="1104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>
              <a:defRPr sz="2850" b="1">
                <a:solidFill>
                  <a:srgbClr val="5DBE2C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5DBE2C"/>
                </a:solidFill>
                <a:latin typeface="Montserrat"/>
                <a:ea typeface="Montserrat"/>
                <a:cs typeface="Montserrat"/>
              </a:rPr>
              <a:t>SERIE · EL CORAZÓN DEL SERVIDOR</a:t>
            </a:r>
          </a:p>
        </p:txBody>
      </p:sp>
      <p:sp>
        <p:nvSpPr>
          <p:cNvPr id="3" name="title-top">
            <a:extLst>
              <a:ext uri="{FF2B5EF4-FFF2-40B4-BE49-F238E27FC236}">
                <a16:creationId xmlns:a16="http://schemas.microsoft.com/office/drawing/2014/main" id="{8D801E95-B06E-4E77-B63C-BCBC5A453AAD}"/>
              </a:ext>
            </a:extLst>
          </p:cNvPr>
          <p:cNvSpPr>
            <a:spLocks noGrp="1"/>
          </p:cNvSpPr>
          <p:nvPr/>
        </p:nvSpPr>
        <p:spPr>
          <a:xfrm>
            <a:off x="1143000" y="3095625"/>
            <a:ext cx="12192000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8578" lnSpcReduction="10000"/>
          </a:bodyPr>
          <a:lstStyle/>
          <a:p>
            <a:pPr>
              <a:defRPr sz="12750">
                <a:solidFill>
                  <a:srgbClr val="F7F1E8"/>
                </a:solidFill>
                <a:latin typeface="Anton"/>
                <a:ea typeface="Anton"/>
                <a:cs typeface="Anton"/>
              </a:defRPr>
            </a:pPr>
            <a:r>
              <a:rPr sz="12750">
                <a:solidFill>
                  <a:srgbClr val="F7F1E8"/>
                </a:solidFill>
                <a:latin typeface="Anton"/>
                <a:ea typeface="Anton"/>
                <a:cs typeface="Anton"/>
              </a:rPr>
              <a:t>SIRVIENDO</a:t>
            </a:r>
          </a:p>
        </p:txBody>
      </p:sp>
      <p:sp>
        <p:nvSpPr>
          <p:cNvPr id="4" name="title-highlight-bg">
            <a:extLst>
              <a:ext uri="{FF2B5EF4-FFF2-40B4-BE49-F238E27FC236}">
                <a16:creationId xmlns:a16="http://schemas.microsoft.com/office/drawing/2014/main" id="{855F7868-BCF7-4129-8B50-3BF89C12F9CF}"/>
              </a:ext>
            </a:extLst>
          </p:cNvPr>
          <p:cNvSpPr>
            <a:spLocks noGrp="1"/>
          </p:cNvSpPr>
          <p:nvPr/>
        </p:nvSpPr>
        <p:spPr>
          <a:xfrm>
            <a:off x="1143000" y="4810125"/>
            <a:ext cx="6477000" cy="1638300"/>
          </a:xfrm>
          <a:prstGeom prst="roundRect">
            <a:avLst>
              <a:gd name="adj" fmla="val 1744"/>
            </a:avLst>
          </a:prstGeom>
          <a:solidFill>
            <a:srgbClr val="5DBE2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itle-highlight">
            <a:extLst>
              <a:ext uri="{FF2B5EF4-FFF2-40B4-BE49-F238E27FC236}">
                <a16:creationId xmlns:a16="http://schemas.microsoft.com/office/drawing/2014/main" id="{962B24D9-A2C7-4C78-840C-BA7A7ECE7D98}"/>
              </a:ext>
            </a:extLst>
          </p:cNvPr>
          <p:cNvSpPr>
            <a:spLocks noGrp="1"/>
          </p:cNvSpPr>
          <p:nvPr/>
        </p:nvSpPr>
        <p:spPr>
          <a:xfrm>
            <a:off x="1381125" y="4857750"/>
            <a:ext cx="6096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6825" lnSpcReduction="10000"/>
          </a:bodyPr>
          <a:lstStyle/>
          <a:p>
            <a:pPr>
              <a:defRPr sz="11850">
                <a:solidFill>
                  <a:srgbClr val="1A1A1A"/>
                </a:solidFill>
                <a:latin typeface="Anton"/>
                <a:ea typeface="Anton"/>
                <a:cs typeface="Anton"/>
              </a:defRPr>
            </a:pPr>
            <a:r>
              <a:rPr sz="11850">
                <a:solidFill>
                  <a:srgbClr val="1A1A1A"/>
                </a:solidFill>
                <a:latin typeface="Anton"/>
                <a:ea typeface="Anton"/>
                <a:cs typeface="Anton"/>
              </a:rPr>
              <a:t>CON AMOR</a:t>
            </a:r>
          </a:p>
        </p:txBody>
      </p:sp>
      <p:sp>
        <p:nvSpPr>
          <p:cNvPr id="6" name="cover-verse">
            <a:extLst>
              <a:ext uri="{FF2B5EF4-FFF2-40B4-BE49-F238E27FC236}">
                <a16:creationId xmlns:a16="http://schemas.microsoft.com/office/drawing/2014/main" id="{CB5878AF-DD55-4735-AE7A-34972F503E84}"/>
              </a:ext>
            </a:extLst>
          </p:cNvPr>
          <p:cNvSpPr>
            <a:spLocks noGrp="1"/>
          </p:cNvSpPr>
          <p:nvPr/>
        </p:nvSpPr>
        <p:spPr>
          <a:xfrm>
            <a:off x="1143000" y="6905625"/>
            <a:ext cx="12001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2824"/>
          </a:bodyPr>
          <a:lstStyle/>
          <a:p>
            <a:pPr>
              <a:defRPr sz="3600" i="1">
                <a:solidFill>
                  <a:srgbClr val="CFC7BA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3600" i="1">
                <a:solidFill>
                  <a:srgbClr val="CFC7BA"/>
                </a:solidFill>
                <a:latin typeface="Playfair Display"/>
                <a:ea typeface="Playfair Display"/>
                <a:cs typeface="Playfair Display"/>
              </a:rPr>
              <a:t>“Teniendo así un gran afecto por vosotros, nos hemos complacido en impartiros no solo el evangelio de Dios, sino también nuestras propias vidas.”</a:t>
            </a:r>
          </a:p>
        </p:txBody>
      </p:sp>
      <p:sp>
        <p:nvSpPr>
          <p:cNvPr id="7" name="reference-pill">
            <a:extLst>
              <a:ext uri="{FF2B5EF4-FFF2-40B4-BE49-F238E27FC236}">
                <a16:creationId xmlns:a16="http://schemas.microsoft.com/office/drawing/2014/main" id="{55478675-75E0-49C0-AFFE-5F0C0FD744B8}"/>
              </a:ext>
            </a:extLst>
          </p:cNvPr>
          <p:cNvSpPr>
            <a:spLocks noGrp="1"/>
          </p:cNvSpPr>
          <p:nvPr/>
        </p:nvSpPr>
        <p:spPr>
          <a:xfrm>
            <a:off x="1143000" y="8839200"/>
            <a:ext cx="5619750" cy="647700"/>
          </a:xfrm>
          <a:prstGeom prst="roundRect">
            <a:avLst>
              <a:gd name="adj" fmla="val 50000"/>
            </a:avLst>
          </a:prstGeom>
          <a:solidFill>
            <a:srgbClr val="5DBE2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ference">
            <a:extLst>
              <a:ext uri="{FF2B5EF4-FFF2-40B4-BE49-F238E27FC236}">
                <a16:creationId xmlns:a16="http://schemas.microsoft.com/office/drawing/2014/main" id="{BEACBEF8-75A7-47C1-A7B6-2574D47F2BB1}"/>
              </a:ext>
            </a:extLst>
          </p:cNvPr>
          <p:cNvSpPr>
            <a:spLocks noGrp="1"/>
          </p:cNvSpPr>
          <p:nvPr/>
        </p:nvSpPr>
        <p:spPr>
          <a:xfrm>
            <a:off x="1428750" y="8896350"/>
            <a:ext cx="5048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2400" b="1">
                <a:solidFill>
                  <a:srgbClr val="1A1A1A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1 TESALONICENSES 2:8</a:t>
            </a:r>
          </a:p>
        </p:txBody>
      </p:sp>
    </p:spTree>
    <p:extLst>
      <p:ext uri="{BB962C8B-B14F-4D97-AF65-F5344CB8AC3E}">
        <p14:creationId xmlns:p14="http://schemas.microsoft.com/office/powerpoint/2010/main" val="1352833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840200" y="533400"/>
            <a:ext cx="838200" cy="838200"/>
          </a:xfrm>
          <a:prstGeom prst="rect">
            <a:avLst/>
          </a:prstGeom>
        </p:spPr>
      </p:pic>
      <p:sp>
        <p:nvSpPr>
          <p:cNvPr id="2" name="point-01">
            <a:extLst>
              <a:ext uri="{FF2B5EF4-FFF2-40B4-BE49-F238E27FC236}">
                <a16:creationId xmlns:a16="http://schemas.microsoft.com/office/drawing/2014/main" id="{7B06017B-372A-47D7-97CE-6EE229AFAB63}"/>
              </a:ext>
            </a:extLst>
          </p:cNvPr>
          <p:cNvSpPr>
            <a:spLocks noGrp="1"/>
          </p:cNvSpPr>
          <p:nvPr/>
        </p:nvSpPr>
        <p:spPr>
          <a:xfrm>
            <a:off x="1143000" y="1714500"/>
            <a:ext cx="666750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75625" lnSpcReduction="10000"/>
          </a:bodyPr>
          <a:lstStyle/>
          <a:p>
            <a:pPr>
              <a:defRPr sz="24000">
                <a:solidFill>
                  <a:srgbClr val="5DBE2C"/>
                </a:solidFill>
                <a:latin typeface="Anton"/>
                <a:ea typeface="Anton"/>
                <a:cs typeface="Anton"/>
              </a:defRPr>
            </a:pPr>
            <a:r>
              <a:rPr sz="24000">
                <a:solidFill>
                  <a:srgbClr val="5DBE2C"/>
                </a:solidFill>
                <a:latin typeface="Anton"/>
                <a:ea typeface="Anton"/>
                <a:cs typeface="Anton"/>
              </a:rPr>
              <a:t>01</a:t>
            </a:r>
          </a:p>
        </p:txBody>
      </p:sp>
      <p:sp>
        <p:nvSpPr>
          <p:cNvPr id="3" name="kicker">
            <a:extLst>
              <a:ext uri="{FF2B5EF4-FFF2-40B4-BE49-F238E27FC236}">
                <a16:creationId xmlns:a16="http://schemas.microsoft.com/office/drawing/2014/main" id="{719193CF-1CC9-454F-A90C-BD4656367671}"/>
              </a:ext>
            </a:extLst>
          </p:cNvPr>
          <p:cNvSpPr>
            <a:spLocks noGrp="1"/>
          </p:cNvSpPr>
          <p:nvPr/>
        </p:nvSpPr>
        <p:spPr>
          <a:xfrm>
            <a:off x="1238250" y="4762500"/>
            <a:ext cx="723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1558" lnSpcReduction="10000"/>
          </a:bodyPr>
          <a:lstStyle/>
          <a:p>
            <a:pPr>
              <a:defRPr sz="3450" b="1">
                <a:solidFill>
                  <a:srgbClr val="4A9E22"/>
                </a:solidFill>
                <a:latin typeface="Montserrat"/>
                <a:ea typeface="Montserrat"/>
                <a:cs typeface="Montserrat"/>
              </a:defRPr>
            </a:pPr>
            <a:r>
              <a:rPr sz="3450" b="1">
                <a:solidFill>
                  <a:srgbClr val="4A9E22"/>
                </a:solidFill>
                <a:latin typeface="Montserrat"/>
                <a:ea typeface="Montserrat"/>
                <a:cs typeface="Montserrat"/>
              </a:rPr>
              <a:t>PRIMER PUNTO</a:t>
            </a:r>
          </a:p>
        </p:txBody>
      </p:sp>
      <p:sp>
        <p:nvSpPr>
          <p:cNvPr id="4" name="point-title">
            <a:extLst>
              <a:ext uri="{FF2B5EF4-FFF2-40B4-BE49-F238E27FC236}">
                <a16:creationId xmlns:a16="http://schemas.microsoft.com/office/drawing/2014/main" id="{500F8F26-4C61-4246-B2D9-780B43735219}"/>
              </a:ext>
            </a:extLst>
          </p:cNvPr>
          <p:cNvSpPr>
            <a:spLocks noGrp="1"/>
          </p:cNvSpPr>
          <p:nvPr/>
        </p:nvSpPr>
        <p:spPr>
          <a:xfrm>
            <a:off x="1143000" y="5476875"/>
            <a:ext cx="13716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3851" lnSpcReduction="10000"/>
          </a:bodyPr>
          <a:lstStyle/>
          <a:p>
            <a:pPr>
              <a:defRPr sz="8700">
                <a:solidFill>
                  <a:srgbClr val="1A1A1A"/>
                </a:solidFill>
                <a:latin typeface="Anton"/>
                <a:ea typeface="Anton"/>
                <a:cs typeface="Anton"/>
              </a:defRPr>
            </a:pPr>
            <a:r>
              <a:rPr sz="8700">
                <a:solidFill>
                  <a:srgbClr val="1A1A1A"/>
                </a:solidFill>
                <a:latin typeface="Anton"/>
                <a:ea typeface="Anton"/>
                <a:cs typeface="Anton"/>
              </a:rPr>
              <a:t>UN AMOR QUE SE DA, NO QUE SE PRESTA</a:t>
            </a:r>
          </a:p>
        </p:txBody>
      </p:sp>
      <p:sp>
        <p:nvSpPr>
          <p:cNvPr id="5" name="point-rule">
            <a:extLst>
              <a:ext uri="{FF2B5EF4-FFF2-40B4-BE49-F238E27FC236}">
                <a16:creationId xmlns:a16="http://schemas.microsoft.com/office/drawing/2014/main" id="{ADC1753D-F380-4E68-A799-B6606066896A}"/>
              </a:ext>
            </a:extLst>
          </p:cNvPr>
          <p:cNvSpPr>
            <a:spLocks noGrp="1"/>
          </p:cNvSpPr>
          <p:nvPr/>
        </p:nvSpPr>
        <p:spPr>
          <a:xfrm>
            <a:off x="1143000" y="8239125"/>
            <a:ext cx="1428750" cy="38100"/>
          </a:xfrm>
          <a:prstGeom prst="rect">
            <a:avLst/>
          </a:prstGeom>
          <a:solidFill>
            <a:srgbClr val="1A1A1A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794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column">
            <a:extLst>
              <a:ext uri="{FF2B5EF4-FFF2-40B4-BE49-F238E27FC236}">
                <a16:creationId xmlns:a16="http://schemas.microsoft.com/office/drawing/2014/main" id="{7BA512CA-9C59-4014-888A-8355506A7F20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7239000" cy="10287000"/>
          </a:xfrm>
          <a:prstGeom prst="rect">
            <a:avLst/>
          </a:prstGeom>
          <a:solidFill>
            <a:srgbClr val="1A1A1A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544550" y="3714750"/>
            <a:ext cx="2247900" cy="2247900"/>
          </a:xfrm>
          <a:prstGeom prst="rect">
            <a:avLst/>
          </a:prstGeom>
        </p:spPr>
      </p:pic>
      <p:sp>
        <p:nvSpPr>
          <p:cNvPr id="3" name="watermark-dim">
            <a:extLst>
              <a:ext uri="{FF2B5EF4-FFF2-40B4-BE49-F238E27FC236}">
                <a16:creationId xmlns:a16="http://schemas.microsoft.com/office/drawing/2014/main" id="{5FACACC4-D137-4FA9-9B0D-86D03A8CDFA4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7239000" cy="10287000"/>
          </a:xfrm>
          <a:prstGeom prst="rect">
            <a:avLst/>
          </a:prstGeom>
          <a:solidFill>
            <a:srgbClr val="1A1A1A">
              <a:alpha val="84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image-label">
            <a:extLst>
              <a:ext uri="{FF2B5EF4-FFF2-40B4-BE49-F238E27FC236}">
                <a16:creationId xmlns:a16="http://schemas.microsoft.com/office/drawing/2014/main" id="{6C5C69BA-58F8-4C1E-B348-70F7B63E0B0E}"/>
              </a:ext>
            </a:extLst>
          </p:cNvPr>
          <p:cNvSpPr>
            <a:spLocks noGrp="1"/>
          </p:cNvSpPr>
          <p:nvPr/>
        </p:nvSpPr>
        <p:spPr>
          <a:xfrm>
            <a:off x="11906250" y="4810125"/>
            <a:ext cx="552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2100" b="1">
                <a:solidFill>
                  <a:srgbClr val="F7F1E8">
                    <a:alpha val="42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 dirty="0">
                <a:solidFill>
                  <a:srgbClr val="F7F1E8">
                    <a:alpha val="42000"/>
                  </a:srgbClr>
                </a:solidFill>
                <a:latin typeface="Montserrat"/>
                <a:ea typeface="Montserrat"/>
                <a:cs typeface="Montserrat"/>
              </a:rPr>
              <a:t>IMAGEN</a:t>
            </a:r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6840200" y="533400"/>
            <a:ext cx="838200" cy="838200"/>
          </a:xfrm>
          <a:prstGeom prst="rect">
            <a:avLst/>
          </a:prstGeom>
        </p:spPr>
      </p:pic>
      <p:sp>
        <p:nvSpPr>
          <p:cNvPr id="6" name="kicker">
            <a:extLst>
              <a:ext uri="{FF2B5EF4-FFF2-40B4-BE49-F238E27FC236}">
                <a16:creationId xmlns:a16="http://schemas.microsoft.com/office/drawing/2014/main" id="{BFA1C8ED-2FBA-4CFC-98D1-9A38FC78B0A3}"/>
              </a:ext>
            </a:extLst>
          </p:cNvPr>
          <p:cNvSpPr>
            <a:spLocks noGrp="1"/>
          </p:cNvSpPr>
          <p:nvPr/>
        </p:nvSpPr>
        <p:spPr>
          <a:xfrm>
            <a:off x="1143000" y="15811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>
              <a:defRPr sz="2550" b="1">
                <a:solidFill>
                  <a:srgbClr val="4A9E22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4A9E22"/>
                </a:solidFill>
                <a:latin typeface="Montserrat"/>
                <a:ea typeface="Montserrat"/>
                <a:cs typeface="Montserrat"/>
              </a:rPr>
              <a:t>PUNTO 01 · A</a:t>
            </a:r>
          </a:p>
        </p:txBody>
      </p:sp>
      <p:sp>
        <p:nvSpPr>
          <p:cNvPr id="7" name="subpoint-title">
            <a:extLst>
              <a:ext uri="{FF2B5EF4-FFF2-40B4-BE49-F238E27FC236}">
                <a16:creationId xmlns:a16="http://schemas.microsoft.com/office/drawing/2014/main" id="{192C8012-2248-4621-B7B8-0B4B3A9688DD}"/>
              </a:ext>
            </a:extLst>
          </p:cNvPr>
          <p:cNvSpPr>
            <a:spLocks noGrp="1"/>
          </p:cNvSpPr>
          <p:nvPr/>
        </p:nvSpPr>
        <p:spPr>
          <a:xfrm>
            <a:off x="1143000" y="2238375"/>
            <a:ext cx="8572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>
              <a:defRPr sz="4800" b="1">
                <a:solidFill>
                  <a:srgbClr val="1A1A1A"/>
                </a:solidFill>
                <a:latin typeface="Montserrat"/>
                <a:ea typeface="Montserrat"/>
                <a:cs typeface="Montserrat"/>
              </a:defRPr>
            </a:pPr>
            <a:r>
              <a:rPr sz="4800" b="1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Darse a sí mismo, no solo el tiempo</a:t>
            </a:r>
          </a:p>
        </p:txBody>
      </p:sp>
      <p:sp>
        <p:nvSpPr>
          <p:cNvPr id="8" name="subpoint-rule">
            <a:extLst>
              <a:ext uri="{FF2B5EF4-FFF2-40B4-BE49-F238E27FC236}">
                <a16:creationId xmlns:a16="http://schemas.microsoft.com/office/drawing/2014/main" id="{8C3CEBBF-3353-46A8-8CEA-BB822650F57E}"/>
              </a:ext>
            </a:extLst>
          </p:cNvPr>
          <p:cNvSpPr>
            <a:spLocks noGrp="1"/>
          </p:cNvSpPr>
          <p:nvPr/>
        </p:nvSpPr>
        <p:spPr>
          <a:xfrm>
            <a:off x="1143000" y="4629150"/>
            <a:ext cx="1143000" cy="38100"/>
          </a:xfrm>
          <a:prstGeom prst="rect">
            <a:avLst/>
          </a:prstGeom>
          <a:solidFill>
            <a:srgbClr val="5DBE2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ubpoint-body">
            <a:extLst>
              <a:ext uri="{FF2B5EF4-FFF2-40B4-BE49-F238E27FC236}">
                <a16:creationId xmlns:a16="http://schemas.microsoft.com/office/drawing/2014/main" id="{B2BFF4F5-AFA4-4588-A1AA-74AFBB5707B5}"/>
              </a:ext>
            </a:extLst>
          </p:cNvPr>
          <p:cNvSpPr>
            <a:spLocks noGrp="1"/>
          </p:cNvSpPr>
          <p:nvPr/>
        </p:nvSpPr>
        <p:spPr>
          <a:xfrm>
            <a:off x="1143000" y="5048250"/>
            <a:ext cx="8096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>
              <a:defRPr sz="2850" b="1">
                <a:solidFill>
                  <a:srgbClr val="1A1A1A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Pablo no ofreció un servicio: ofreció su vida. La palabra griega PSYCHAS (almas) indica el ser completo, no el tiempo sobrante.</a:t>
            </a:r>
          </a:p>
        </p:txBody>
      </p:sp>
      <p:sp>
        <p:nvSpPr>
          <p:cNvPr id="10" name="verse-pill">
            <a:extLst>
              <a:ext uri="{FF2B5EF4-FFF2-40B4-BE49-F238E27FC236}">
                <a16:creationId xmlns:a16="http://schemas.microsoft.com/office/drawing/2014/main" id="{6DE340B1-93D9-4A37-BA8B-5A0C1E8CB865}"/>
              </a:ext>
            </a:extLst>
          </p:cNvPr>
          <p:cNvSpPr>
            <a:spLocks noGrp="1"/>
          </p:cNvSpPr>
          <p:nvPr/>
        </p:nvSpPr>
        <p:spPr>
          <a:xfrm>
            <a:off x="1143000" y="8667750"/>
            <a:ext cx="4953000" cy="609600"/>
          </a:xfrm>
          <a:prstGeom prst="roundRect">
            <a:avLst>
              <a:gd name="adj" fmla="val 50000"/>
            </a:avLst>
          </a:prstGeom>
          <a:solidFill>
            <a:srgbClr val="5DBE2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verse-reference">
            <a:extLst>
              <a:ext uri="{FF2B5EF4-FFF2-40B4-BE49-F238E27FC236}">
                <a16:creationId xmlns:a16="http://schemas.microsoft.com/office/drawing/2014/main" id="{A3BFCB20-0997-462B-8B3B-8A993D4163BF}"/>
              </a:ext>
            </a:extLst>
          </p:cNvPr>
          <p:cNvSpPr>
            <a:spLocks noGrp="1"/>
          </p:cNvSpPr>
          <p:nvPr/>
        </p:nvSpPr>
        <p:spPr>
          <a:xfrm>
            <a:off x="1428750" y="8724900"/>
            <a:ext cx="438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2100" b="1">
                <a:solidFill>
                  <a:srgbClr val="1A1A1A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1 TESALONICENSES 2:8</a:t>
            </a:r>
          </a:p>
        </p:txBody>
      </p:sp>
      <p:pic>
        <p:nvPicPr>
          <p:cNvPr id="5" name="Imagen 4" descr="Mi oportunidad para ayudar a otros - ManejodelDuelo.com">
            <a:extLst>
              <a:ext uri="{FF2B5EF4-FFF2-40B4-BE49-F238E27FC236}">
                <a16:creationId xmlns:a16="http://schemas.microsoft.com/office/drawing/2014/main" id="{5E73EC87-DAC3-67F5-A841-59A64BB39E3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272" r="40805"/>
          <a:stretch>
            <a:fillRect/>
          </a:stretch>
        </p:blipFill>
        <p:spPr>
          <a:xfrm>
            <a:off x="10749394" y="0"/>
            <a:ext cx="7538606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341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column">
            <a:extLst>
              <a:ext uri="{FF2B5EF4-FFF2-40B4-BE49-F238E27FC236}">
                <a16:creationId xmlns:a16="http://schemas.microsoft.com/office/drawing/2014/main" id="{A39FD31F-0F4C-4B53-BC1B-D5A880991C4B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7239000" cy="10287000"/>
          </a:xfrm>
          <a:prstGeom prst="rect">
            <a:avLst/>
          </a:prstGeom>
          <a:solidFill>
            <a:srgbClr val="1A1A1A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544550" y="3714750"/>
            <a:ext cx="2247900" cy="2247900"/>
          </a:xfrm>
          <a:prstGeom prst="rect">
            <a:avLst/>
          </a:prstGeom>
        </p:spPr>
      </p:pic>
      <p:sp>
        <p:nvSpPr>
          <p:cNvPr id="3" name="watermark-dim">
            <a:extLst>
              <a:ext uri="{FF2B5EF4-FFF2-40B4-BE49-F238E27FC236}">
                <a16:creationId xmlns:a16="http://schemas.microsoft.com/office/drawing/2014/main" id="{5D67C41C-122E-49CA-BDE0-9B45EF83BB2D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7239000" cy="10287000"/>
          </a:xfrm>
          <a:prstGeom prst="rect">
            <a:avLst/>
          </a:prstGeom>
          <a:solidFill>
            <a:srgbClr val="1A1A1A">
              <a:alpha val="84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image-label">
            <a:extLst>
              <a:ext uri="{FF2B5EF4-FFF2-40B4-BE49-F238E27FC236}">
                <a16:creationId xmlns:a16="http://schemas.microsoft.com/office/drawing/2014/main" id="{35417978-3EAB-48BD-ACD1-D017B90C5373}"/>
              </a:ext>
            </a:extLst>
          </p:cNvPr>
          <p:cNvSpPr>
            <a:spLocks noGrp="1"/>
          </p:cNvSpPr>
          <p:nvPr/>
        </p:nvSpPr>
        <p:spPr>
          <a:xfrm>
            <a:off x="11906250" y="4810125"/>
            <a:ext cx="552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2100" b="1">
                <a:solidFill>
                  <a:srgbClr val="F7F1E8">
                    <a:alpha val="42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7F1E8">
                    <a:alpha val="42000"/>
                  </a:srgbClr>
                </a:solidFill>
                <a:latin typeface="Montserrat"/>
                <a:ea typeface="Montserrat"/>
                <a:cs typeface="Montserrat"/>
              </a:rPr>
              <a:t>IMAGEN</a:t>
            </a:r>
          </a:p>
        </p:txBody>
      </p:sp>
      <p:sp>
        <p:nvSpPr>
          <p:cNvPr id="6" name="kicker">
            <a:extLst>
              <a:ext uri="{FF2B5EF4-FFF2-40B4-BE49-F238E27FC236}">
                <a16:creationId xmlns:a16="http://schemas.microsoft.com/office/drawing/2014/main" id="{EFAC39F5-C033-45C1-8668-4791B27F7481}"/>
              </a:ext>
            </a:extLst>
          </p:cNvPr>
          <p:cNvSpPr>
            <a:spLocks noGrp="1"/>
          </p:cNvSpPr>
          <p:nvPr/>
        </p:nvSpPr>
        <p:spPr>
          <a:xfrm>
            <a:off x="1143000" y="15811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>
              <a:defRPr sz="2550" b="1">
                <a:solidFill>
                  <a:srgbClr val="4A9E22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4A9E22"/>
                </a:solidFill>
                <a:latin typeface="Montserrat"/>
                <a:ea typeface="Montserrat"/>
                <a:cs typeface="Montserrat"/>
              </a:rPr>
              <a:t>PUNTO 01 · B</a:t>
            </a:r>
          </a:p>
        </p:txBody>
      </p:sp>
      <p:sp>
        <p:nvSpPr>
          <p:cNvPr id="7" name="subpoint-title">
            <a:extLst>
              <a:ext uri="{FF2B5EF4-FFF2-40B4-BE49-F238E27FC236}">
                <a16:creationId xmlns:a16="http://schemas.microsoft.com/office/drawing/2014/main" id="{607800D0-D38B-4AB1-97E6-C10B87A8FF82}"/>
              </a:ext>
            </a:extLst>
          </p:cNvPr>
          <p:cNvSpPr>
            <a:spLocks noGrp="1"/>
          </p:cNvSpPr>
          <p:nvPr/>
        </p:nvSpPr>
        <p:spPr>
          <a:xfrm>
            <a:off x="1143000" y="2238375"/>
            <a:ext cx="8572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>
              <a:defRPr sz="4200" b="1">
                <a:solidFill>
                  <a:srgbClr val="1A1A1A"/>
                </a:solidFill>
                <a:latin typeface="Montserrat"/>
                <a:ea typeface="Montserrat"/>
                <a:cs typeface="Montserrat"/>
              </a:defRPr>
            </a:pPr>
            <a:r>
              <a:rPr sz="4200" b="1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Un afecto que nace del corazón, no del deber</a:t>
            </a:r>
          </a:p>
        </p:txBody>
      </p:sp>
      <p:sp>
        <p:nvSpPr>
          <p:cNvPr id="8" name="subpoint-rule">
            <a:extLst>
              <a:ext uri="{FF2B5EF4-FFF2-40B4-BE49-F238E27FC236}">
                <a16:creationId xmlns:a16="http://schemas.microsoft.com/office/drawing/2014/main" id="{ED9E966E-4442-4CBC-A2FD-4FE130BB5377}"/>
              </a:ext>
            </a:extLst>
          </p:cNvPr>
          <p:cNvSpPr>
            <a:spLocks noGrp="1"/>
          </p:cNvSpPr>
          <p:nvPr/>
        </p:nvSpPr>
        <p:spPr>
          <a:xfrm>
            <a:off x="1143000" y="4629150"/>
            <a:ext cx="1143000" cy="38100"/>
          </a:xfrm>
          <a:prstGeom prst="rect">
            <a:avLst/>
          </a:prstGeom>
          <a:solidFill>
            <a:srgbClr val="5DBE2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011650" y="415413"/>
            <a:ext cx="838200" cy="838200"/>
          </a:xfrm>
          <a:prstGeom prst="rect">
            <a:avLst/>
          </a:prstGeom>
        </p:spPr>
      </p:pic>
      <p:pic>
        <p:nvPicPr>
          <p:cNvPr id="5" name="Imagen 4" descr="hombre abrazando un corazon 17121999 Vector en Vecteezy">
            <a:extLst>
              <a:ext uri="{FF2B5EF4-FFF2-40B4-BE49-F238E27FC236}">
                <a16:creationId xmlns:a16="http://schemas.microsoft.com/office/drawing/2014/main" id="{CB041587-EA62-1BF3-CC33-1D386DDBE68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312"/>
          <a:stretch>
            <a:fillRect/>
          </a:stretch>
        </p:blipFill>
        <p:spPr>
          <a:xfrm>
            <a:off x="11049000" y="0"/>
            <a:ext cx="7239000" cy="10287000"/>
          </a:xfrm>
          <a:prstGeom prst="rect">
            <a:avLst/>
          </a:prstGeom>
        </p:spPr>
      </p:pic>
      <p:sp>
        <p:nvSpPr>
          <p:cNvPr id="9" name="subpoint-body">
            <a:extLst>
              <a:ext uri="{FF2B5EF4-FFF2-40B4-BE49-F238E27FC236}">
                <a16:creationId xmlns:a16="http://schemas.microsoft.com/office/drawing/2014/main" id="{5C785C52-2182-4CED-B10D-53D4C8477ECA}"/>
              </a:ext>
            </a:extLst>
          </p:cNvPr>
          <p:cNvSpPr>
            <a:spLocks noGrp="1"/>
          </p:cNvSpPr>
          <p:nvPr/>
        </p:nvSpPr>
        <p:spPr>
          <a:xfrm>
            <a:off x="1143000" y="5048250"/>
            <a:ext cx="8096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>
              <a:defRPr sz="2850" b="1">
                <a:solidFill>
                  <a:srgbClr val="1A1A1A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HOMEIROMAI — hapax del NT. El anhelo entrañable de unos padres por su hijo. No obligación: amor que duele cuando está lejos.</a:t>
            </a:r>
          </a:p>
        </p:txBody>
      </p:sp>
      <p:sp>
        <p:nvSpPr>
          <p:cNvPr id="10" name="verse-pill">
            <a:extLst>
              <a:ext uri="{FF2B5EF4-FFF2-40B4-BE49-F238E27FC236}">
                <a16:creationId xmlns:a16="http://schemas.microsoft.com/office/drawing/2014/main" id="{3A9CBB5E-4A2F-48E4-AEFD-F4DFDA797E04}"/>
              </a:ext>
            </a:extLst>
          </p:cNvPr>
          <p:cNvSpPr>
            <a:spLocks noGrp="1"/>
          </p:cNvSpPr>
          <p:nvPr/>
        </p:nvSpPr>
        <p:spPr>
          <a:xfrm>
            <a:off x="1143000" y="8667750"/>
            <a:ext cx="4953000" cy="609600"/>
          </a:xfrm>
          <a:prstGeom prst="roundRect">
            <a:avLst>
              <a:gd name="adj" fmla="val 50000"/>
            </a:avLst>
          </a:prstGeom>
          <a:solidFill>
            <a:srgbClr val="5DBE2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verse-reference">
            <a:extLst>
              <a:ext uri="{FF2B5EF4-FFF2-40B4-BE49-F238E27FC236}">
                <a16:creationId xmlns:a16="http://schemas.microsoft.com/office/drawing/2014/main" id="{3ECFE648-C3B1-4007-AF00-8165FE6794EA}"/>
              </a:ext>
            </a:extLst>
          </p:cNvPr>
          <p:cNvSpPr>
            <a:spLocks noGrp="1"/>
          </p:cNvSpPr>
          <p:nvPr/>
        </p:nvSpPr>
        <p:spPr>
          <a:xfrm>
            <a:off x="1428750" y="8724900"/>
            <a:ext cx="438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2100" b="1">
                <a:solidFill>
                  <a:srgbClr val="1A1A1A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1 TESALONICENSES 2:8</a:t>
            </a:r>
          </a:p>
        </p:txBody>
      </p:sp>
    </p:spTree>
    <p:extLst>
      <p:ext uri="{BB962C8B-B14F-4D97-AF65-F5344CB8AC3E}">
        <p14:creationId xmlns:p14="http://schemas.microsoft.com/office/powerpoint/2010/main" val="1635347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column">
            <a:extLst>
              <a:ext uri="{FF2B5EF4-FFF2-40B4-BE49-F238E27FC236}">
                <a16:creationId xmlns:a16="http://schemas.microsoft.com/office/drawing/2014/main" id="{B5918582-D3F3-4A2B-B506-5AAD9679455E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7239000" cy="10287000"/>
          </a:xfrm>
          <a:prstGeom prst="rect">
            <a:avLst/>
          </a:prstGeom>
          <a:solidFill>
            <a:srgbClr val="1A1A1A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544550" y="3714750"/>
            <a:ext cx="2247900" cy="2247900"/>
          </a:xfrm>
          <a:prstGeom prst="rect">
            <a:avLst/>
          </a:prstGeom>
        </p:spPr>
      </p:pic>
      <p:sp>
        <p:nvSpPr>
          <p:cNvPr id="3" name="watermark-dim">
            <a:extLst>
              <a:ext uri="{FF2B5EF4-FFF2-40B4-BE49-F238E27FC236}">
                <a16:creationId xmlns:a16="http://schemas.microsoft.com/office/drawing/2014/main" id="{EE10147B-3936-4060-9E38-B83D373C5DBB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7239000" cy="10287000"/>
          </a:xfrm>
          <a:prstGeom prst="rect">
            <a:avLst/>
          </a:prstGeom>
          <a:solidFill>
            <a:srgbClr val="1A1A1A">
              <a:alpha val="84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image-label">
            <a:extLst>
              <a:ext uri="{FF2B5EF4-FFF2-40B4-BE49-F238E27FC236}">
                <a16:creationId xmlns:a16="http://schemas.microsoft.com/office/drawing/2014/main" id="{A47D7C1D-5A90-464C-9092-E4BEB17E52A2}"/>
              </a:ext>
            </a:extLst>
          </p:cNvPr>
          <p:cNvSpPr>
            <a:spLocks noGrp="1"/>
          </p:cNvSpPr>
          <p:nvPr/>
        </p:nvSpPr>
        <p:spPr>
          <a:xfrm>
            <a:off x="11906250" y="4810125"/>
            <a:ext cx="552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2100" b="1">
                <a:solidFill>
                  <a:srgbClr val="F7F1E8">
                    <a:alpha val="42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7F1E8">
                    <a:alpha val="42000"/>
                  </a:srgbClr>
                </a:solidFill>
                <a:latin typeface="Montserrat"/>
                <a:ea typeface="Montserrat"/>
                <a:cs typeface="Montserrat"/>
              </a:rPr>
              <a:t>IMAGEN</a:t>
            </a:r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6840200" y="533400"/>
            <a:ext cx="838200" cy="838200"/>
          </a:xfrm>
          <a:prstGeom prst="rect">
            <a:avLst/>
          </a:prstGeom>
        </p:spPr>
      </p:pic>
      <p:sp>
        <p:nvSpPr>
          <p:cNvPr id="6" name="kicker">
            <a:extLst>
              <a:ext uri="{FF2B5EF4-FFF2-40B4-BE49-F238E27FC236}">
                <a16:creationId xmlns:a16="http://schemas.microsoft.com/office/drawing/2014/main" id="{9870C055-D0D9-41AE-8353-349A5898CD52}"/>
              </a:ext>
            </a:extLst>
          </p:cNvPr>
          <p:cNvSpPr>
            <a:spLocks noGrp="1"/>
          </p:cNvSpPr>
          <p:nvPr/>
        </p:nvSpPr>
        <p:spPr>
          <a:xfrm>
            <a:off x="1143000" y="15811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>
              <a:defRPr sz="2550" b="1">
                <a:solidFill>
                  <a:srgbClr val="4A9E22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4A9E22"/>
                </a:solidFill>
                <a:latin typeface="Montserrat"/>
                <a:ea typeface="Montserrat"/>
                <a:cs typeface="Montserrat"/>
              </a:rPr>
              <a:t>PUNTO 01 · C</a:t>
            </a:r>
          </a:p>
        </p:txBody>
      </p:sp>
      <p:sp>
        <p:nvSpPr>
          <p:cNvPr id="7" name="subpoint-title">
            <a:extLst>
              <a:ext uri="{FF2B5EF4-FFF2-40B4-BE49-F238E27FC236}">
                <a16:creationId xmlns:a16="http://schemas.microsoft.com/office/drawing/2014/main" id="{9772BE7E-99F6-4D9D-932D-DF36A49BB625}"/>
              </a:ext>
            </a:extLst>
          </p:cNvPr>
          <p:cNvSpPr>
            <a:spLocks noGrp="1"/>
          </p:cNvSpPr>
          <p:nvPr/>
        </p:nvSpPr>
        <p:spPr>
          <a:xfrm>
            <a:off x="1143000" y="2238375"/>
            <a:ext cx="8572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>
              <a:defRPr sz="4800" b="1">
                <a:solidFill>
                  <a:srgbClr val="1A1A1A"/>
                </a:solidFill>
                <a:latin typeface="Montserrat"/>
                <a:ea typeface="Montserrat"/>
                <a:cs typeface="Montserrat"/>
              </a:defRPr>
            </a:pPr>
            <a:r>
              <a:rPr sz="4800" b="1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Un amor probado bajo fuego, no decorativo</a:t>
            </a:r>
          </a:p>
        </p:txBody>
      </p:sp>
      <p:sp>
        <p:nvSpPr>
          <p:cNvPr id="8" name="subpoint-rule">
            <a:extLst>
              <a:ext uri="{FF2B5EF4-FFF2-40B4-BE49-F238E27FC236}">
                <a16:creationId xmlns:a16="http://schemas.microsoft.com/office/drawing/2014/main" id="{B1ADA934-C1B0-4EA3-A2B5-8F1F1355C606}"/>
              </a:ext>
            </a:extLst>
          </p:cNvPr>
          <p:cNvSpPr>
            <a:spLocks noGrp="1"/>
          </p:cNvSpPr>
          <p:nvPr/>
        </p:nvSpPr>
        <p:spPr>
          <a:xfrm>
            <a:off x="1143000" y="4629150"/>
            <a:ext cx="1143000" cy="38100"/>
          </a:xfrm>
          <a:prstGeom prst="rect">
            <a:avLst/>
          </a:prstGeom>
          <a:solidFill>
            <a:srgbClr val="5DBE2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ubpoint-body">
            <a:extLst>
              <a:ext uri="{FF2B5EF4-FFF2-40B4-BE49-F238E27FC236}">
                <a16:creationId xmlns:a16="http://schemas.microsoft.com/office/drawing/2014/main" id="{C4C23AA9-66DD-4EB3-88B6-89287CB81640}"/>
              </a:ext>
            </a:extLst>
          </p:cNvPr>
          <p:cNvSpPr>
            <a:spLocks noGrp="1"/>
          </p:cNvSpPr>
          <p:nvPr/>
        </p:nvSpPr>
        <p:spPr>
          <a:xfrm>
            <a:off x="1143000" y="5048250"/>
            <a:ext cx="8096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>
              <a:defRPr sz="2850" b="1">
                <a:solidFill>
                  <a:srgbClr val="1A1A1A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Llegaron a Tesalónica después de ser azotados y encarcelados en Filipos. No suavizaron el mensaje. El amor real no desaparece cuando servir cuesta algo.</a:t>
            </a:r>
          </a:p>
        </p:txBody>
      </p:sp>
      <p:sp>
        <p:nvSpPr>
          <p:cNvPr id="10" name="verse-pill">
            <a:extLst>
              <a:ext uri="{FF2B5EF4-FFF2-40B4-BE49-F238E27FC236}">
                <a16:creationId xmlns:a16="http://schemas.microsoft.com/office/drawing/2014/main" id="{38563F83-6BCA-498C-B86B-F5E7472AFDEC}"/>
              </a:ext>
            </a:extLst>
          </p:cNvPr>
          <p:cNvSpPr>
            <a:spLocks noGrp="1"/>
          </p:cNvSpPr>
          <p:nvPr/>
        </p:nvSpPr>
        <p:spPr>
          <a:xfrm>
            <a:off x="1143000" y="8667750"/>
            <a:ext cx="4953000" cy="609600"/>
          </a:xfrm>
          <a:prstGeom prst="roundRect">
            <a:avLst>
              <a:gd name="adj" fmla="val 50000"/>
            </a:avLst>
          </a:prstGeom>
          <a:solidFill>
            <a:srgbClr val="5DBE2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verse-reference">
            <a:extLst>
              <a:ext uri="{FF2B5EF4-FFF2-40B4-BE49-F238E27FC236}">
                <a16:creationId xmlns:a16="http://schemas.microsoft.com/office/drawing/2014/main" id="{6D22748B-A21A-426D-B7F2-95943AFD8E42}"/>
              </a:ext>
            </a:extLst>
          </p:cNvPr>
          <p:cNvSpPr>
            <a:spLocks noGrp="1"/>
          </p:cNvSpPr>
          <p:nvPr/>
        </p:nvSpPr>
        <p:spPr>
          <a:xfrm>
            <a:off x="1428750" y="8724900"/>
            <a:ext cx="438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2100" b="1">
                <a:solidFill>
                  <a:srgbClr val="1A1A1A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1 TESALONICENSES 2:1-2</a:t>
            </a:r>
          </a:p>
        </p:txBody>
      </p:sp>
      <p:pic>
        <p:nvPicPr>
          <p:cNvPr id="5" name="Imagen 4" descr="559.200+ Fuego Ilustraciones de Stock, gráficos vectoriales libres de  derechos y clip art - iStock | Agua, Fire, Tierra">
            <a:extLst>
              <a:ext uri="{FF2B5EF4-FFF2-40B4-BE49-F238E27FC236}">
                <a16:creationId xmlns:a16="http://schemas.microsoft.com/office/drawing/2014/main" id="{8E58188C-042D-C489-6349-CACC5CCAA6C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198" r="13913"/>
          <a:stretch>
            <a:fillRect/>
          </a:stretch>
        </p:blipFill>
        <p:spPr>
          <a:xfrm>
            <a:off x="10673118" y="0"/>
            <a:ext cx="7614882" cy="10305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2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840200" y="533400"/>
            <a:ext cx="838200" cy="838200"/>
          </a:xfrm>
          <a:prstGeom prst="rect">
            <a:avLst/>
          </a:prstGeom>
        </p:spPr>
      </p:pic>
      <p:sp>
        <p:nvSpPr>
          <p:cNvPr id="2" name="application-box">
            <a:extLst>
              <a:ext uri="{FF2B5EF4-FFF2-40B4-BE49-F238E27FC236}">
                <a16:creationId xmlns:a16="http://schemas.microsoft.com/office/drawing/2014/main" id="{1F44169C-62DB-4520-A0C9-7E7D7D327BC0}"/>
              </a:ext>
            </a:extLst>
          </p:cNvPr>
          <p:cNvSpPr>
            <a:spLocks noGrp="1"/>
          </p:cNvSpPr>
          <p:nvPr/>
        </p:nvSpPr>
        <p:spPr>
          <a:xfrm>
            <a:off x="2238375" y="2190750"/>
            <a:ext cx="13811250" cy="5905500"/>
          </a:xfrm>
          <a:prstGeom prst="roundRect">
            <a:avLst>
              <a:gd name="adj" fmla="val 2258"/>
            </a:avLst>
          </a:prstGeom>
          <a:solidFill>
            <a:srgbClr val="1A1A1A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s-ES"/>
          </a:p>
        </p:txBody>
      </p:sp>
      <p:sp>
        <p:nvSpPr>
          <p:cNvPr id="3" name="kicker">
            <a:extLst>
              <a:ext uri="{FF2B5EF4-FFF2-40B4-BE49-F238E27FC236}">
                <a16:creationId xmlns:a16="http://schemas.microsoft.com/office/drawing/2014/main" id="{5A579921-D6A2-48F8-8C0D-0942E9E85291}"/>
              </a:ext>
            </a:extLst>
          </p:cNvPr>
          <p:cNvSpPr>
            <a:spLocks noGrp="1"/>
          </p:cNvSpPr>
          <p:nvPr/>
        </p:nvSpPr>
        <p:spPr>
          <a:xfrm>
            <a:off x="2952750" y="2876550"/>
            <a:ext cx="685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8055" lnSpcReduction="10000"/>
          </a:bodyPr>
          <a:lstStyle/>
          <a:p>
            <a:pPr>
              <a:defRPr sz="3600" b="1">
                <a:solidFill>
                  <a:srgbClr val="5DBE2C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5DBE2C"/>
                </a:solidFill>
                <a:latin typeface="Montserrat"/>
                <a:ea typeface="Montserrat"/>
                <a:cs typeface="Montserrat"/>
              </a:rPr>
              <a:t>APLICACIÓN</a:t>
            </a:r>
          </a:p>
        </p:txBody>
      </p:sp>
      <p:sp>
        <p:nvSpPr>
          <p:cNvPr id="4" name="application-main">
            <a:extLst>
              <a:ext uri="{FF2B5EF4-FFF2-40B4-BE49-F238E27FC236}">
                <a16:creationId xmlns:a16="http://schemas.microsoft.com/office/drawing/2014/main" id="{5A58C262-6E64-4DAE-ABB2-7526F3483D41}"/>
              </a:ext>
            </a:extLst>
          </p:cNvPr>
          <p:cNvSpPr>
            <a:spLocks noGrp="1"/>
          </p:cNvSpPr>
          <p:nvPr/>
        </p:nvSpPr>
        <p:spPr>
          <a:xfrm>
            <a:off x="2952750" y="3667125"/>
            <a:ext cx="123825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>
              <a:defRPr sz="4500" b="1">
                <a:solidFill>
                  <a:srgbClr val="F7F1E8"/>
                </a:solidFill>
                <a:latin typeface="Montserrat"/>
                <a:ea typeface="Montserrat"/>
                <a:cs typeface="Montserrat"/>
              </a:defRPr>
            </a:pPr>
            <a:r>
              <a:rPr sz="4500" b="1">
                <a:solidFill>
                  <a:srgbClr val="F7F1E8"/>
                </a:solidFill>
                <a:latin typeface="Montserrat"/>
                <a:ea typeface="Montserrat"/>
                <a:cs typeface="Montserrat"/>
              </a:rPr>
              <a:t>¿Debemos preguntarnos si lo que ofrecemos en el servicio es nuestra vida o solo lo que nos sobra?</a:t>
            </a:r>
          </a:p>
        </p:txBody>
      </p:sp>
      <p:sp>
        <p:nvSpPr>
          <p:cNvPr id="5" name="application-accent">
            <a:extLst>
              <a:ext uri="{FF2B5EF4-FFF2-40B4-BE49-F238E27FC236}">
                <a16:creationId xmlns:a16="http://schemas.microsoft.com/office/drawing/2014/main" id="{5947AC49-5DD5-44D4-83A6-564BFE58A6B0}"/>
              </a:ext>
            </a:extLst>
          </p:cNvPr>
          <p:cNvSpPr>
            <a:spLocks noGrp="1"/>
          </p:cNvSpPr>
          <p:nvPr/>
        </p:nvSpPr>
        <p:spPr>
          <a:xfrm>
            <a:off x="2952750" y="6267450"/>
            <a:ext cx="1809750" cy="133350"/>
          </a:xfrm>
          <a:prstGeom prst="rect">
            <a:avLst/>
          </a:prstGeom>
          <a:solidFill>
            <a:srgbClr val="5DBE2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application-secondary">
            <a:extLst>
              <a:ext uri="{FF2B5EF4-FFF2-40B4-BE49-F238E27FC236}">
                <a16:creationId xmlns:a16="http://schemas.microsoft.com/office/drawing/2014/main" id="{AF8A9F45-B754-4097-A79D-FC5DF03078DB}"/>
              </a:ext>
            </a:extLst>
          </p:cNvPr>
          <p:cNvSpPr>
            <a:spLocks noGrp="1"/>
          </p:cNvSpPr>
          <p:nvPr/>
        </p:nvSpPr>
        <p:spPr>
          <a:xfrm>
            <a:off x="2952750" y="6667500"/>
            <a:ext cx="11144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5149" lnSpcReduction="10000"/>
          </a:bodyPr>
          <a:lstStyle/>
          <a:p>
            <a:pPr>
              <a:defRPr sz="31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1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Necesitamos examinar si nuestro afecto por la iglesia es genuino o protocolar.</a:t>
            </a:r>
          </a:p>
        </p:txBody>
      </p:sp>
    </p:spTree>
    <p:extLst>
      <p:ext uri="{BB962C8B-B14F-4D97-AF65-F5344CB8AC3E}">
        <p14:creationId xmlns:p14="http://schemas.microsoft.com/office/powerpoint/2010/main" val="1002561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840200" y="533400"/>
            <a:ext cx="838200" cy="838200"/>
          </a:xfrm>
          <a:prstGeom prst="rect">
            <a:avLst/>
          </a:prstGeom>
        </p:spPr>
      </p:pic>
      <p:sp>
        <p:nvSpPr>
          <p:cNvPr id="2" name="point-02">
            <a:extLst>
              <a:ext uri="{FF2B5EF4-FFF2-40B4-BE49-F238E27FC236}">
                <a16:creationId xmlns:a16="http://schemas.microsoft.com/office/drawing/2014/main" id="{22E14DBE-75C9-4129-BF4B-D3A1FDD1DBDC}"/>
              </a:ext>
            </a:extLst>
          </p:cNvPr>
          <p:cNvSpPr>
            <a:spLocks noGrp="1"/>
          </p:cNvSpPr>
          <p:nvPr/>
        </p:nvSpPr>
        <p:spPr>
          <a:xfrm>
            <a:off x="1143000" y="1714500"/>
            <a:ext cx="666750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75625" lnSpcReduction="10000"/>
          </a:bodyPr>
          <a:lstStyle/>
          <a:p>
            <a:pPr>
              <a:defRPr sz="24000">
                <a:solidFill>
                  <a:srgbClr val="5DBE2C"/>
                </a:solidFill>
                <a:latin typeface="Anton"/>
                <a:ea typeface="Anton"/>
                <a:cs typeface="Anton"/>
              </a:defRPr>
            </a:pPr>
            <a:r>
              <a:rPr sz="24000">
                <a:solidFill>
                  <a:srgbClr val="5DBE2C"/>
                </a:solidFill>
                <a:latin typeface="Anton"/>
                <a:ea typeface="Anton"/>
                <a:cs typeface="Anton"/>
              </a:rPr>
              <a:t>02</a:t>
            </a:r>
          </a:p>
        </p:txBody>
      </p:sp>
      <p:sp>
        <p:nvSpPr>
          <p:cNvPr id="3" name="kicker">
            <a:extLst>
              <a:ext uri="{FF2B5EF4-FFF2-40B4-BE49-F238E27FC236}">
                <a16:creationId xmlns:a16="http://schemas.microsoft.com/office/drawing/2014/main" id="{97601779-80D8-4D42-A073-A72F3352909E}"/>
              </a:ext>
            </a:extLst>
          </p:cNvPr>
          <p:cNvSpPr>
            <a:spLocks noGrp="1"/>
          </p:cNvSpPr>
          <p:nvPr/>
        </p:nvSpPr>
        <p:spPr>
          <a:xfrm>
            <a:off x="1238250" y="4762500"/>
            <a:ext cx="723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1558" lnSpcReduction="10000"/>
          </a:bodyPr>
          <a:lstStyle/>
          <a:p>
            <a:pPr>
              <a:defRPr sz="3450" b="1">
                <a:solidFill>
                  <a:srgbClr val="4A9E22"/>
                </a:solidFill>
                <a:latin typeface="Montserrat"/>
                <a:ea typeface="Montserrat"/>
                <a:cs typeface="Montserrat"/>
              </a:defRPr>
            </a:pPr>
            <a:r>
              <a:rPr sz="3450" b="1">
                <a:solidFill>
                  <a:srgbClr val="4A9E22"/>
                </a:solidFill>
                <a:latin typeface="Montserrat"/>
                <a:ea typeface="Montserrat"/>
                <a:cs typeface="Montserrat"/>
              </a:rPr>
              <a:t>SEGUNDO PUNTO</a:t>
            </a:r>
          </a:p>
        </p:txBody>
      </p:sp>
      <p:sp>
        <p:nvSpPr>
          <p:cNvPr id="4" name="point-title">
            <a:extLst>
              <a:ext uri="{FF2B5EF4-FFF2-40B4-BE49-F238E27FC236}">
                <a16:creationId xmlns:a16="http://schemas.microsoft.com/office/drawing/2014/main" id="{5DDBD7CC-3722-4103-957A-637FB4F814AE}"/>
              </a:ext>
            </a:extLst>
          </p:cNvPr>
          <p:cNvSpPr>
            <a:spLocks noGrp="1"/>
          </p:cNvSpPr>
          <p:nvPr/>
        </p:nvSpPr>
        <p:spPr>
          <a:xfrm>
            <a:off x="1143000" y="5476875"/>
            <a:ext cx="13716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0884" lnSpcReduction="20000"/>
          </a:bodyPr>
          <a:lstStyle/>
          <a:p>
            <a:pPr>
              <a:defRPr sz="9900">
                <a:solidFill>
                  <a:srgbClr val="1A1A1A"/>
                </a:solidFill>
                <a:latin typeface="Anton"/>
                <a:ea typeface="Anton"/>
                <a:cs typeface="Anton"/>
              </a:defRPr>
            </a:pPr>
            <a:r>
              <a:rPr sz="9900">
                <a:solidFill>
                  <a:srgbClr val="1A1A1A"/>
                </a:solidFill>
                <a:latin typeface="Anton"/>
                <a:ea typeface="Anton"/>
                <a:cs typeface="Anton"/>
              </a:rPr>
              <a:t>UN AMOR QUE CUIDA CON TERNURA</a:t>
            </a:r>
          </a:p>
        </p:txBody>
      </p:sp>
      <p:sp>
        <p:nvSpPr>
          <p:cNvPr id="5" name="point-rule">
            <a:extLst>
              <a:ext uri="{FF2B5EF4-FFF2-40B4-BE49-F238E27FC236}">
                <a16:creationId xmlns:a16="http://schemas.microsoft.com/office/drawing/2014/main" id="{A75875C0-0A4A-4E48-AF55-3C98ADC10329}"/>
              </a:ext>
            </a:extLst>
          </p:cNvPr>
          <p:cNvSpPr>
            <a:spLocks noGrp="1"/>
          </p:cNvSpPr>
          <p:nvPr/>
        </p:nvSpPr>
        <p:spPr>
          <a:xfrm>
            <a:off x="1143000" y="8239125"/>
            <a:ext cx="1428750" cy="38100"/>
          </a:xfrm>
          <a:prstGeom prst="rect">
            <a:avLst/>
          </a:prstGeom>
          <a:solidFill>
            <a:srgbClr val="1A1A1A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7642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column">
            <a:extLst>
              <a:ext uri="{FF2B5EF4-FFF2-40B4-BE49-F238E27FC236}">
                <a16:creationId xmlns:a16="http://schemas.microsoft.com/office/drawing/2014/main" id="{AF120AB0-1906-4EA0-9B89-9C71E8A651DC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7239000" cy="10287000"/>
          </a:xfrm>
          <a:prstGeom prst="rect">
            <a:avLst/>
          </a:prstGeom>
          <a:solidFill>
            <a:srgbClr val="1A1A1A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544550" y="3714750"/>
            <a:ext cx="2247900" cy="2247900"/>
          </a:xfrm>
          <a:prstGeom prst="rect">
            <a:avLst/>
          </a:prstGeom>
        </p:spPr>
      </p:pic>
      <p:sp>
        <p:nvSpPr>
          <p:cNvPr id="3" name="watermark-dim">
            <a:extLst>
              <a:ext uri="{FF2B5EF4-FFF2-40B4-BE49-F238E27FC236}">
                <a16:creationId xmlns:a16="http://schemas.microsoft.com/office/drawing/2014/main" id="{8E533299-71EB-407D-BBF8-30BEFBE744B7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7239000" cy="10287000"/>
          </a:xfrm>
          <a:prstGeom prst="rect">
            <a:avLst/>
          </a:prstGeom>
          <a:solidFill>
            <a:srgbClr val="1A1A1A">
              <a:alpha val="84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image-label">
            <a:extLst>
              <a:ext uri="{FF2B5EF4-FFF2-40B4-BE49-F238E27FC236}">
                <a16:creationId xmlns:a16="http://schemas.microsoft.com/office/drawing/2014/main" id="{FEE54EBD-F40B-4726-B67C-9572721F1194}"/>
              </a:ext>
            </a:extLst>
          </p:cNvPr>
          <p:cNvSpPr>
            <a:spLocks noGrp="1"/>
          </p:cNvSpPr>
          <p:nvPr/>
        </p:nvSpPr>
        <p:spPr>
          <a:xfrm>
            <a:off x="11906250" y="4810125"/>
            <a:ext cx="552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2100" b="1">
                <a:solidFill>
                  <a:srgbClr val="F7F1E8">
                    <a:alpha val="42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7F1E8">
                    <a:alpha val="42000"/>
                  </a:srgbClr>
                </a:solidFill>
                <a:latin typeface="Montserrat"/>
                <a:ea typeface="Montserrat"/>
                <a:cs typeface="Montserrat"/>
              </a:rPr>
              <a:t>IMAGEN</a:t>
            </a:r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6840200" y="533400"/>
            <a:ext cx="838200" cy="838200"/>
          </a:xfrm>
          <a:prstGeom prst="rect">
            <a:avLst/>
          </a:prstGeom>
        </p:spPr>
      </p:pic>
      <p:sp>
        <p:nvSpPr>
          <p:cNvPr id="6" name="kicker">
            <a:extLst>
              <a:ext uri="{FF2B5EF4-FFF2-40B4-BE49-F238E27FC236}">
                <a16:creationId xmlns:a16="http://schemas.microsoft.com/office/drawing/2014/main" id="{8D346C68-B0E5-4445-BEAF-F4AF71EF1428}"/>
              </a:ext>
            </a:extLst>
          </p:cNvPr>
          <p:cNvSpPr>
            <a:spLocks noGrp="1"/>
          </p:cNvSpPr>
          <p:nvPr/>
        </p:nvSpPr>
        <p:spPr>
          <a:xfrm>
            <a:off x="1143000" y="15811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>
              <a:defRPr sz="2550" b="1">
                <a:solidFill>
                  <a:srgbClr val="4A9E22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4A9E22"/>
                </a:solidFill>
                <a:latin typeface="Montserrat"/>
                <a:ea typeface="Montserrat"/>
                <a:cs typeface="Montserrat"/>
              </a:rPr>
              <a:t>PUNTO 02 · A</a:t>
            </a:r>
          </a:p>
        </p:txBody>
      </p:sp>
      <p:sp>
        <p:nvSpPr>
          <p:cNvPr id="7" name="subpoint-title">
            <a:extLst>
              <a:ext uri="{FF2B5EF4-FFF2-40B4-BE49-F238E27FC236}">
                <a16:creationId xmlns:a16="http://schemas.microsoft.com/office/drawing/2014/main" id="{52E74B20-08B8-40CD-ACBC-08F6151C133E}"/>
              </a:ext>
            </a:extLst>
          </p:cNvPr>
          <p:cNvSpPr>
            <a:spLocks noGrp="1"/>
          </p:cNvSpPr>
          <p:nvPr/>
        </p:nvSpPr>
        <p:spPr>
          <a:xfrm>
            <a:off x="1143000" y="2238375"/>
            <a:ext cx="8572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>
              <a:defRPr sz="4800" b="1">
                <a:solidFill>
                  <a:srgbClr val="1A1A1A"/>
                </a:solidFill>
                <a:latin typeface="Montserrat"/>
                <a:ea typeface="Montserrat"/>
                <a:cs typeface="Montserrat"/>
              </a:defRPr>
            </a:pPr>
            <a:r>
              <a:rPr sz="4800" b="1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La imagen de la nodriza-madre</a:t>
            </a:r>
          </a:p>
        </p:txBody>
      </p:sp>
      <p:sp>
        <p:nvSpPr>
          <p:cNvPr id="8" name="subpoint-rule">
            <a:extLst>
              <a:ext uri="{FF2B5EF4-FFF2-40B4-BE49-F238E27FC236}">
                <a16:creationId xmlns:a16="http://schemas.microsoft.com/office/drawing/2014/main" id="{FEAEF40C-C32F-4294-BFC1-E80277FFCB5A}"/>
              </a:ext>
            </a:extLst>
          </p:cNvPr>
          <p:cNvSpPr>
            <a:spLocks noGrp="1"/>
          </p:cNvSpPr>
          <p:nvPr/>
        </p:nvSpPr>
        <p:spPr>
          <a:xfrm>
            <a:off x="1143000" y="4629150"/>
            <a:ext cx="1143000" cy="38100"/>
          </a:xfrm>
          <a:prstGeom prst="rect">
            <a:avLst/>
          </a:prstGeom>
          <a:solidFill>
            <a:srgbClr val="5DBE2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ubpoint-body">
            <a:extLst>
              <a:ext uri="{FF2B5EF4-FFF2-40B4-BE49-F238E27FC236}">
                <a16:creationId xmlns:a16="http://schemas.microsoft.com/office/drawing/2014/main" id="{9F43F58F-E047-44C9-9ACE-3F70D7B35658}"/>
              </a:ext>
            </a:extLst>
          </p:cNvPr>
          <p:cNvSpPr>
            <a:spLocks noGrp="1"/>
          </p:cNvSpPr>
          <p:nvPr/>
        </p:nvSpPr>
        <p:spPr>
          <a:xfrm>
            <a:off x="1143000" y="5048250"/>
            <a:ext cx="8096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>
              <a:defRPr sz="2400" b="1">
                <a:solidFill>
                  <a:srgbClr val="1A1A1A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TROPHOS — nodriza que es a la vez madre. Pablo, ex-fariseo con autoridad apostólica, elige la imagen más tierna posible. John Stott: "Es algo muy hermoso que un hombre tan masculino como Pablo se haya servido de esta metáfora femenina."</a:t>
            </a:r>
          </a:p>
        </p:txBody>
      </p:sp>
      <p:sp>
        <p:nvSpPr>
          <p:cNvPr id="10" name="verse-pill">
            <a:extLst>
              <a:ext uri="{FF2B5EF4-FFF2-40B4-BE49-F238E27FC236}">
                <a16:creationId xmlns:a16="http://schemas.microsoft.com/office/drawing/2014/main" id="{A5DB44DA-D59D-48E8-B5A2-398C62FA2A37}"/>
              </a:ext>
            </a:extLst>
          </p:cNvPr>
          <p:cNvSpPr>
            <a:spLocks noGrp="1"/>
          </p:cNvSpPr>
          <p:nvPr/>
        </p:nvSpPr>
        <p:spPr>
          <a:xfrm>
            <a:off x="1143000" y="8667750"/>
            <a:ext cx="4953000" cy="609600"/>
          </a:xfrm>
          <a:prstGeom prst="roundRect">
            <a:avLst>
              <a:gd name="adj" fmla="val 50000"/>
            </a:avLst>
          </a:prstGeom>
          <a:solidFill>
            <a:srgbClr val="5DBE2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verse-reference">
            <a:extLst>
              <a:ext uri="{FF2B5EF4-FFF2-40B4-BE49-F238E27FC236}">
                <a16:creationId xmlns:a16="http://schemas.microsoft.com/office/drawing/2014/main" id="{DA107167-9677-4837-9E45-579F997FCA9B}"/>
              </a:ext>
            </a:extLst>
          </p:cNvPr>
          <p:cNvSpPr>
            <a:spLocks noGrp="1"/>
          </p:cNvSpPr>
          <p:nvPr/>
        </p:nvSpPr>
        <p:spPr>
          <a:xfrm>
            <a:off x="1428750" y="8724900"/>
            <a:ext cx="438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2100" b="1">
                <a:solidFill>
                  <a:srgbClr val="1A1A1A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1 TESALONICENSES 2:7</a:t>
            </a:r>
          </a:p>
        </p:txBody>
      </p:sp>
      <p:pic>
        <p:nvPicPr>
          <p:cNvPr id="5" name="Imagen 4" descr="La nodriza Foto ambientada en otro tiempo. Una nodriza es una mujer que  amamanta y cría a un bebé que no es suyo, por razones médicas, laborales o  sociales de la madre">
            <a:extLst>
              <a:ext uri="{FF2B5EF4-FFF2-40B4-BE49-F238E27FC236}">
                <a16:creationId xmlns:a16="http://schemas.microsoft.com/office/drawing/2014/main" id="{8AA4C908-26C9-E661-E7A0-29FEF94BB9E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1640"/>
          <a:stretch>
            <a:fillRect/>
          </a:stretch>
        </p:blipFill>
        <p:spPr>
          <a:xfrm>
            <a:off x="11049001" y="0"/>
            <a:ext cx="7239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906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column">
            <a:extLst>
              <a:ext uri="{FF2B5EF4-FFF2-40B4-BE49-F238E27FC236}">
                <a16:creationId xmlns:a16="http://schemas.microsoft.com/office/drawing/2014/main" id="{0D50BB97-F407-414A-91C6-113BAEC229D7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7239000" cy="10287000"/>
          </a:xfrm>
          <a:prstGeom prst="rect">
            <a:avLst/>
          </a:prstGeom>
          <a:solidFill>
            <a:srgbClr val="1A1A1A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544550" y="3714750"/>
            <a:ext cx="2247900" cy="2247900"/>
          </a:xfrm>
          <a:prstGeom prst="rect">
            <a:avLst/>
          </a:prstGeom>
        </p:spPr>
      </p:pic>
      <p:sp>
        <p:nvSpPr>
          <p:cNvPr id="3" name="watermark-dim">
            <a:extLst>
              <a:ext uri="{FF2B5EF4-FFF2-40B4-BE49-F238E27FC236}">
                <a16:creationId xmlns:a16="http://schemas.microsoft.com/office/drawing/2014/main" id="{95183679-7B7C-4CFC-98F5-C166F37602A5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7239000" cy="10287000"/>
          </a:xfrm>
          <a:prstGeom prst="rect">
            <a:avLst/>
          </a:prstGeom>
          <a:solidFill>
            <a:srgbClr val="1A1A1A">
              <a:alpha val="84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image-label">
            <a:extLst>
              <a:ext uri="{FF2B5EF4-FFF2-40B4-BE49-F238E27FC236}">
                <a16:creationId xmlns:a16="http://schemas.microsoft.com/office/drawing/2014/main" id="{CCF20C60-6B1B-41F6-B614-CC3092517287}"/>
              </a:ext>
            </a:extLst>
          </p:cNvPr>
          <p:cNvSpPr>
            <a:spLocks noGrp="1"/>
          </p:cNvSpPr>
          <p:nvPr/>
        </p:nvSpPr>
        <p:spPr>
          <a:xfrm>
            <a:off x="11906250" y="4810125"/>
            <a:ext cx="552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2100" b="1">
                <a:solidFill>
                  <a:srgbClr val="F7F1E8">
                    <a:alpha val="42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7F1E8">
                    <a:alpha val="42000"/>
                  </a:srgbClr>
                </a:solidFill>
                <a:latin typeface="Montserrat"/>
                <a:ea typeface="Montserrat"/>
                <a:cs typeface="Montserrat"/>
              </a:rPr>
              <a:t>IMAGEN</a:t>
            </a:r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6840200" y="533400"/>
            <a:ext cx="838200" cy="838200"/>
          </a:xfrm>
          <a:prstGeom prst="rect">
            <a:avLst/>
          </a:prstGeom>
        </p:spPr>
      </p:pic>
      <p:sp>
        <p:nvSpPr>
          <p:cNvPr id="6" name="kicker">
            <a:extLst>
              <a:ext uri="{FF2B5EF4-FFF2-40B4-BE49-F238E27FC236}">
                <a16:creationId xmlns:a16="http://schemas.microsoft.com/office/drawing/2014/main" id="{7574295D-FEBE-48E5-99DA-7DE44440BEE7}"/>
              </a:ext>
            </a:extLst>
          </p:cNvPr>
          <p:cNvSpPr>
            <a:spLocks noGrp="1"/>
          </p:cNvSpPr>
          <p:nvPr/>
        </p:nvSpPr>
        <p:spPr>
          <a:xfrm>
            <a:off x="1143000" y="15811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>
              <a:defRPr sz="2550" b="1">
                <a:solidFill>
                  <a:srgbClr val="4A9E22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4A9E22"/>
                </a:solidFill>
                <a:latin typeface="Montserrat"/>
                <a:ea typeface="Montserrat"/>
                <a:cs typeface="Montserrat"/>
              </a:rPr>
              <a:t>PUNTO 02 · B</a:t>
            </a:r>
          </a:p>
        </p:txBody>
      </p:sp>
      <p:sp>
        <p:nvSpPr>
          <p:cNvPr id="7" name="subpoint-title">
            <a:extLst>
              <a:ext uri="{FF2B5EF4-FFF2-40B4-BE49-F238E27FC236}">
                <a16:creationId xmlns:a16="http://schemas.microsoft.com/office/drawing/2014/main" id="{6B2801B1-329C-457E-937F-77F4DD22EC81}"/>
              </a:ext>
            </a:extLst>
          </p:cNvPr>
          <p:cNvSpPr>
            <a:spLocks noGrp="1"/>
          </p:cNvSpPr>
          <p:nvPr/>
        </p:nvSpPr>
        <p:spPr>
          <a:xfrm>
            <a:off x="1143000" y="2238375"/>
            <a:ext cx="8572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>
              <a:defRPr sz="4800" b="1">
                <a:solidFill>
                  <a:srgbClr val="1A1A1A"/>
                </a:solidFill>
                <a:latin typeface="Montserrat"/>
                <a:ea typeface="Montserrat"/>
                <a:cs typeface="Montserrat"/>
              </a:defRPr>
            </a:pPr>
            <a:r>
              <a:rPr sz="4800" b="1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Ternura que ajusta su vida al otro</a:t>
            </a:r>
          </a:p>
        </p:txBody>
      </p:sp>
      <p:sp>
        <p:nvSpPr>
          <p:cNvPr id="8" name="subpoint-rule">
            <a:extLst>
              <a:ext uri="{FF2B5EF4-FFF2-40B4-BE49-F238E27FC236}">
                <a16:creationId xmlns:a16="http://schemas.microsoft.com/office/drawing/2014/main" id="{76991559-A737-4BA1-898A-EF4B302EA9AB}"/>
              </a:ext>
            </a:extLst>
          </p:cNvPr>
          <p:cNvSpPr>
            <a:spLocks noGrp="1"/>
          </p:cNvSpPr>
          <p:nvPr/>
        </p:nvSpPr>
        <p:spPr>
          <a:xfrm>
            <a:off x="1143000" y="4629150"/>
            <a:ext cx="1143000" cy="38100"/>
          </a:xfrm>
          <a:prstGeom prst="rect">
            <a:avLst/>
          </a:prstGeom>
          <a:solidFill>
            <a:srgbClr val="5DBE2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ubpoint-body">
            <a:extLst>
              <a:ext uri="{FF2B5EF4-FFF2-40B4-BE49-F238E27FC236}">
                <a16:creationId xmlns:a16="http://schemas.microsoft.com/office/drawing/2014/main" id="{FF5F538B-EB16-461A-BB3C-FA3DAA7D0BC0}"/>
              </a:ext>
            </a:extLst>
          </p:cNvPr>
          <p:cNvSpPr>
            <a:spLocks noGrp="1"/>
          </p:cNvSpPr>
          <p:nvPr/>
        </p:nvSpPr>
        <p:spPr>
          <a:xfrm>
            <a:off x="1143000" y="5048250"/>
            <a:ext cx="8096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>
              <a:defRPr sz="2850" b="1">
                <a:solidFill>
                  <a:srgbClr val="1A1A1A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Una madre no sirve a conveniencia: adapta todo su ritmo al del bebé. Pablo ajustó su ministerio a los tesalonicenses, no al revés.</a:t>
            </a:r>
          </a:p>
        </p:txBody>
      </p:sp>
      <p:sp>
        <p:nvSpPr>
          <p:cNvPr id="10" name="verse-pill">
            <a:extLst>
              <a:ext uri="{FF2B5EF4-FFF2-40B4-BE49-F238E27FC236}">
                <a16:creationId xmlns:a16="http://schemas.microsoft.com/office/drawing/2014/main" id="{EA22C082-4688-4235-AF1C-5BD18D1A4413}"/>
              </a:ext>
            </a:extLst>
          </p:cNvPr>
          <p:cNvSpPr>
            <a:spLocks noGrp="1"/>
          </p:cNvSpPr>
          <p:nvPr/>
        </p:nvSpPr>
        <p:spPr>
          <a:xfrm>
            <a:off x="1143000" y="8667750"/>
            <a:ext cx="4953000" cy="609600"/>
          </a:xfrm>
          <a:prstGeom prst="roundRect">
            <a:avLst>
              <a:gd name="adj" fmla="val 50000"/>
            </a:avLst>
          </a:prstGeom>
          <a:solidFill>
            <a:srgbClr val="5DBE2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verse-reference">
            <a:extLst>
              <a:ext uri="{FF2B5EF4-FFF2-40B4-BE49-F238E27FC236}">
                <a16:creationId xmlns:a16="http://schemas.microsoft.com/office/drawing/2014/main" id="{BD7DE3D9-EBFC-48F0-A231-BA3EB04F0244}"/>
              </a:ext>
            </a:extLst>
          </p:cNvPr>
          <p:cNvSpPr>
            <a:spLocks noGrp="1"/>
          </p:cNvSpPr>
          <p:nvPr/>
        </p:nvSpPr>
        <p:spPr>
          <a:xfrm>
            <a:off x="1428750" y="8724900"/>
            <a:ext cx="438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2100" b="1">
                <a:solidFill>
                  <a:srgbClr val="1A1A1A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1 TESALONICENSES 2:7-8</a:t>
            </a:r>
          </a:p>
        </p:txBody>
      </p:sp>
      <p:pic>
        <p:nvPicPr>
          <p:cNvPr id="5" name="Imagen 4" descr="Dios Insufla Vida a Un Hombre Stock de ilustración - Ilustración de  cubierta, abierto: 206088412">
            <a:extLst>
              <a:ext uri="{FF2B5EF4-FFF2-40B4-BE49-F238E27FC236}">
                <a16:creationId xmlns:a16="http://schemas.microsoft.com/office/drawing/2014/main" id="{FCF6F30B-D786-EDDF-C4D0-BA2E2536AF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0527"/>
          <a:stretch>
            <a:fillRect/>
          </a:stretch>
        </p:blipFill>
        <p:spPr>
          <a:xfrm>
            <a:off x="9921070" y="-11853"/>
            <a:ext cx="8351860" cy="1032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299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column">
            <a:extLst>
              <a:ext uri="{FF2B5EF4-FFF2-40B4-BE49-F238E27FC236}">
                <a16:creationId xmlns:a16="http://schemas.microsoft.com/office/drawing/2014/main" id="{2B19787C-DF08-4598-85DB-86558BE0E860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7239000" cy="10287000"/>
          </a:xfrm>
          <a:prstGeom prst="rect">
            <a:avLst/>
          </a:prstGeom>
          <a:solidFill>
            <a:srgbClr val="1A1A1A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544550" y="3714750"/>
            <a:ext cx="2247900" cy="2247900"/>
          </a:xfrm>
          <a:prstGeom prst="rect">
            <a:avLst/>
          </a:prstGeom>
        </p:spPr>
      </p:pic>
      <p:sp>
        <p:nvSpPr>
          <p:cNvPr id="3" name="watermark-dim">
            <a:extLst>
              <a:ext uri="{FF2B5EF4-FFF2-40B4-BE49-F238E27FC236}">
                <a16:creationId xmlns:a16="http://schemas.microsoft.com/office/drawing/2014/main" id="{63001AEB-C377-4323-B823-D6DFD7ED2A58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7239000" cy="10287000"/>
          </a:xfrm>
          <a:prstGeom prst="rect">
            <a:avLst/>
          </a:prstGeom>
          <a:solidFill>
            <a:srgbClr val="1A1A1A">
              <a:alpha val="84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image-label">
            <a:extLst>
              <a:ext uri="{FF2B5EF4-FFF2-40B4-BE49-F238E27FC236}">
                <a16:creationId xmlns:a16="http://schemas.microsoft.com/office/drawing/2014/main" id="{5712C65B-0C9A-4E72-AA20-8EB34CA6AAA3}"/>
              </a:ext>
            </a:extLst>
          </p:cNvPr>
          <p:cNvSpPr>
            <a:spLocks noGrp="1"/>
          </p:cNvSpPr>
          <p:nvPr/>
        </p:nvSpPr>
        <p:spPr>
          <a:xfrm>
            <a:off x="11906250" y="4810125"/>
            <a:ext cx="552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2100" b="1">
                <a:solidFill>
                  <a:srgbClr val="F7F1E8">
                    <a:alpha val="42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7F1E8">
                    <a:alpha val="42000"/>
                  </a:srgbClr>
                </a:solidFill>
                <a:latin typeface="Montserrat"/>
                <a:ea typeface="Montserrat"/>
                <a:cs typeface="Montserrat"/>
              </a:rPr>
              <a:t>IMAGEN</a:t>
            </a:r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6840200" y="533400"/>
            <a:ext cx="838200" cy="838200"/>
          </a:xfrm>
          <a:prstGeom prst="rect">
            <a:avLst/>
          </a:prstGeom>
        </p:spPr>
      </p:pic>
      <p:sp>
        <p:nvSpPr>
          <p:cNvPr id="6" name="kicker">
            <a:extLst>
              <a:ext uri="{FF2B5EF4-FFF2-40B4-BE49-F238E27FC236}">
                <a16:creationId xmlns:a16="http://schemas.microsoft.com/office/drawing/2014/main" id="{FD428CA8-E402-4521-ABC7-419CBACAEE49}"/>
              </a:ext>
            </a:extLst>
          </p:cNvPr>
          <p:cNvSpPr>
            <a:spLocks noGrp="1"/>
          </p:cNvSpPr>
          <p:nvPr/>
        </p:nvSpPr>
        <p:spPr>
          <a:xfrm>
            <a:off x="1143000" y="15811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>
              <a:defRPr sz="2550" b="1">
                <a:solidFill>
                  <a:srgbClr val="4A9E22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4A9E22"/>
                </a:solidFill>
                <a:latin typeface="Montserrat"/>
                <a:ea typeface="Montserrat"/>
                <a:cs typeface="Montserrat"/>
              </a:rPr>
              <a:t>PUNTO 02 · C</a:t>
            </a:r>
          </a:p>
        </p:txBody>
      </p:sp>
      <p:sp>
        <p:nvSpPr>
          <p:cNvPr id="7" name="subpoint-title">
            <a:extLst>
              <a:ext uri="{FF2B5EF4-FFF2-40B4-BE49-F238E27FC236}">
                <a16:creationId xmlns:a16="http://schemas.microsoft.com/office/drawing/2014/main" id="{AA066056-3CD1-4039-90E1-C0845D00E336}"/>
              </a:ext>
            </a:extLst>
          </p:cNvPr>
          <p:cNvSpPr>
            <a:spLocks noGrp="1"/>
          </p:cNvSpPr>
          <p:nvPr/>
        </p:nvSpPr>
        <p:spPr>
          <a:xfrm>
            <a:off x="1143000" y="2238375"/>
            <a:ext cx="8572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>
              <a:defRPr sz="4800" b="1">
                <a:solidFill>
                  <a:srgbClr val="1A1A1A"/>
                </a:solidFill>
                <a:latin typeface="Montserrat"/>
                <a:ea typeface="Montserrat"/>
                <a:cs typeface="Montserrat"/>
              </a:defRPr>
            </a:pPr>
            <a:r>
              <a:rPr sz="4800" b="1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Cuando servimos así, imitamos a Dios</a:t>
            </a:r>
          </a:p>
        </p:txBody>
      </p:sp>
      <p:sp>
        <p:nvSpPr>
          <p:cNvPr id="8" name="subpoint-rule">
            <a:extLst>
              <a:ext uri="{FF2B5EF4-FFF2-40B4-BE49-F238E27FC236}">
                <a16:creationId xmlns:a16="http://schemas.microsoft.com/office/drawing/2014/main" id="{7A312002-C2E9-49AD-BD5B-93E087E2D9B4}"/>
              </a:ext>
            </a:extLst>
          </p:cNvPr>
          <p:cNvSpPr>
            <a:spLocks noGrp="1"/>
          </p:cNvSpPr>
          <p:nvPr/>
        </p:nvSpPr>
        <p:spPr>
          <a:xfrm>
            <a:off x="1143000" y="4629150"/>
            <a:ext cx="1143000" cy="38100"/>
          </a:xfrm>
          <a:prstGeom prst="rect">
            <a:avLst/>
          </a:prstGeom>
          <a:solidFill>
            <a:srgbClr val="5DBE2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ubpoint-body">
            <a:extLst>
              <a:ext uri="{FF2B5EF4-FFF2-40B4-BE49-F238E27FC236}">
                <a16:creationId xmlns:a16="http://schemas.microsoft.com/office/drawing/2014/main" id="{633CD254-C9FC-4CC7-9DC8-1173CBEC3D64}"/>
              </a:ext>
            </a:extLst>
          </p:cNvPr>
          <p:cNvSpPr>
            <a:spLocks noGrp="1"/>
          </p:cNvSpPr>
          <p:nvPr/>
        </p:nvSpPr>
        <p:spPr>
          <a:xfrm>
            <a:off x="1143000" y="5048250"/>
            <a:ext cx="8096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>
              <a:defRPr sz="2625" b="1">
                <a:solidFill>
                  <a:srgbClr val="1A1A1A"/>
                </a:solidFill>
                <a:latin typeface="Montserrat"/>
                <a:ea typeface="Montserrat"/>
                <a:cs typeface="Montserrat"/>
              </a:defRPr>
            </a:pPr>
            <a:r>
              <a:rPr sz="2625" b="1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Dios mismo usa esta imagen en Isaías 49:15 — "¿Puede una mujer olvidarse de lo que dio a luz?" La ternura en el servicio no es debilidad: es imitar el carácter de Dios.</a:t>
            </a:r>
          </a:p>
        </p:txBody>
      </p:sp>
      <p:sp>
        <p:nvSpPr>
          <p:cNvPr id="10" name="verse-pill">
            <a:extLst>
              <a:ext uri="{FF2B5EF4-FFF2-40B4-BE49-F238E27FC236}">
                <a16:creationId xmlns:a16="http://schemas.microsoft.com/office/drawing/2014/main" id="{3EEFB499-4B82-4E09-AC1D-9CF235B08C3F}"/>
              </a:ext>
            </a:extLst>
          </p:cNvPr>
          <p:cNvSpPr>
            <a:spLocks noGrp="1"/>
          </p:cNvSpPr>
          <p:nvPr/>
        </p:nvSpPr>
        <p:spPr>
          <a:xfrm>
            <a:off x="1143000" y="8667750"/>
            <a:ext cx="4953000" cy="609600"/>
          </a:xfrm>
          <a:prstGeom prst="roundRect">
            <a:avLst>
              <a:gd name="adj" fmla="val 50000"/>
            </a:avLst>
          </a:prstGeom>
          <a:solidFill>
            <a:srgbClr val="5DBE2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verse-reference">
            <a:extLst>
              <a:ext uri="{FF2B5EF4-FFF2-40B4-BE49-F238E27FC236}">
                <a16:creationId xmlns:a16="http://schemas.microsoft.com/office/drawing/2014/main" id="{A131EB1C-9431-4657-B19C-4C7ABAD9DE30}"/>
              </a:ext>
            </a:extLst>
          </p:cNvPr>
          <p:cNvSpPr>
            <a:spLocks noGrp="1"/>
          </p:cNvSpPr>
          <p:nvPr/>
        </p:nvSpPr>
        <p:spPr>
          <a:xfrm>
            <a:off x="1428750" y="8724900"/>
            <a:ext cx="438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2100" b="1">
                <a:solidFill>
                  <a:srgbClr val="1A1A1A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ISAÍAS 49:15</a:t>
            </a:r>
          </a:p>
        </p:txBody>
      </p:sp>
      <p:pic>
        <p:nvPicPr>
          <p:cNvPr id="5" name="Imagen 4" descr="vector de madre e hijo abrazados 13479802 Vector en Vecteezy">
            <a:extLst>
              <a:ext uri="{FF2B5EF4-FFF2-40B4-BE49-F238E27FC236}">
                <a16:creationId xmlns:a16="http://schemas.microsoft.com/office/drawing/2014/main" id="{7B7B8949-64F3-AB87-13F5-8A9E60F6872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106"/>
          <a:stretch>
            <a:fillRect/>
          </a:stretch>
        </p:blipFill>
        <p:spPr>
          <a:xfrm>
            <a:off x="11049000" y="0"/>
            <a:ext cx="7239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020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840200" y="533400"/>
            <a:ext cx="838200" cy="838200"/>
          </a:xfrm>
          <a:prstGeom prst="rect">
            <a:avLst/>
          </a:prstGeom>
        </p:spPr>
      </p:pic>
      <p:sp>
        <p:nvSpPr>
          <p:cNvPr id="2" name="application-box">
            <a:extLst>
              <a:ext uri="{FF2B5EF4-FFF2-40B4-BE49-F238E27FC236}">
                <a16:creationId xmlns:a16="http://schemas.microsoft.com/office/drawing/2014/main" id="{02DCECB4-2F06-470C-8991-D92C4ADEF50A}"/>
              </a:ext>
            </a:extLst>
          </p:cNvPr>
          <p:cNvSpPr>
            <a:spLocks noGrp="1"/>
          </p:cNvSpPr>
          <p:nvPr/>
        </p:nvSpPr>
        <p:spPr>
          <a:xfrm>
            <a:off x="2238375" y="2190750"/>
            <a:ext cx="13811250" cy="5905500"/>
          </a:xfrm>
          <a:prstGeom prst="roundRect">
            <a:avLst>
              <a:gd name="adj" fmla="val 2258"/>
            </a:avLst>
          </a:prstGeom>
          <a:solidFill>
            <a:srgbClr val="1A1A1A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s-ES"/>
          </a:p>
        </p:txBody>
      </p:sp>
      <p:sp>
        <p:nvSpPr>
          <p:cNvPr id="3" name="kicker">
            <a:extLst>
              <a:ext uri="{FF2B5EF4-FFF2-40B4-BE49-F238E27FC236}">
                <a16:creationId xmlns:a16="http://schemas.microsoft.com/office/drawing/2014/main" id="{8D61237C-8CB7-4FF9-89E4-9D7606142BC0}"/>
              </a:ext>
            </a:extLst>
          </p:cNvPr>
          <p:cNvSpPr>
            <a:spLocks noGrp="1"/>
          </p:cNvSpPr>
          <p:nvPr/>
        </p:nvSpPr>
        <p:spPr>
          <a:xfrm>
            <a:off x="2952750" y="2876550"/>
            <a:ext cx="685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8055" lnSpcReduction="10000"/>
          </a:bodyPr>
          <a:lstStyle/>
          <a:p>
            <a:pPr>
              <a:defRPr sz="3600" b="1">
                <a:solidFill>
                  <a:srgbClr val="5DBE2C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5DBE2C"/>
                </a:solidFill>
                <a:latin typeface="Montserrat"/>
                <a:ea typeface="Montserrat"/>
                <a:cs typeface="Montserrat"/>
              </a:rPr>
              <a:t>APLICACIÓN</a:t>
            </a:r>
          </a:p>
        </p:txBody>
      </p:sp>
      <p:sp>
        <p:nvSpPr>
          <p:cNvPr id="4" name="application-main">
            <a:extLst>
              <a:ext uri="{FF2B5EF4-FFF2-40B4-BE49-F238E27FC236}">
                <a16:creationId xmlns:a16="http://schemas.microsoft.com/office/drawing/2014/main" id="{8DBE949E-C3E2-4BF3-B876-0DC00055D9AF}"/>
              </a:ext>
            </a:extLst>
          </p:cNvPr>
          <p:cNvSpPr>
            <a:spLocks noGrp="1"/>
          </p:cNvSpPr>
          <p:nvPr/>
        </p:nvSpPr>
        <p:spPr>
          <a:xfrm>
            <a:off x="2952750" y="3667125"/>
            <a:ext cx="123825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>
              <a:defRPr sz="4500" b="1">
                <a:solidFill>
                  <a:srgbClr val="F7F1E8"/>
                </a:solidFill>
                <a:latin typeface="Montserrat"/>
                <a:ea typeface="Montserrat"/>
                <a:cs typeface="Montserrat"/>
              </a:defRPr>
            </a:pPr>
            <a:r>
              <a:rPr sz="4500" b="1">
                <a:solidFill>
                  <a:srgbClr val="F7F1E8"/>
                </a:solidFill>
                <a:latin typeface="Montserrat"/>
                <a:ea typeface="Montserrat"/>
                <a:cs typeface="Montserrat"/>
              </a:rPr>
              <a:t>¿Tenemos ternura real en el servicio o solo eficiencia?</a:t>
            </a:r>
          </a:p>
        </p:txBody>
      </p:sp>
      <p:sp>
        <p:nvSpPr>
          <p:cNvPr id="5" name="application-accent">
            <a:extLst>
              <a:ext uri="{FF2B5EF4-FFF2-40B4-BE49-F238E27FC236}">
                <a16:creationId xmlns:a16="http://schemas.microsoft.com/office/drawing/2014/main" id="{C3A04CEF-80EF-4D08-962D-A205569581B4}"/>
              </a:ext>
            </a:extLst>
          </p:cNvPr>
          <p:cNvSpPr>
            <a:spLocks noGrp="1"/>
          </p:cNvSpPr>
          <p:nvPr/>
        </p:nvSpPr>
        <p:spPr>
          <a:xfrm>
            <a:off x="2952750" y="6267450"/>
            <a:ext cx="1809750" cy="133350"/>
          </a:xfrm>
          <a:prstGeom prst="rect">
            <a:avLst/>
          </a:prstGeom>
          <a:solidFill>
            <a:srgbClr val="5DBE2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application-secondary">
            <a:extLst>
              <a:ext uri="{FF2B5EF4-FFF2-40B4-BE49-F238E27FC236}">
                <a16:creationId xmlns:a16="http://schemas.microsoft.com/office/drawing/2014/main" id="{703DA334-3B15-47C2-A39B-3492E38A29AA}"/>
              </a:ext>
            </a:extLst>
          </p:cNvPr>
          <p:cNvSpPr>
            <a:spLocks noGrp="1"/>
          </p:cNvSpPr>
          <p:nvPr/>
        </p:nvSpPr>
        <p:spPr>
          <a:xfrm>
            <a:off x="2952750" y="6667500"/>
            <a:ext cx="11144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3640" lnSpcReduction="10000"/>
          </a:bodyPr>
          <a:lstStyle/>
          <a:p>
            <a:pPr>
              <a:defRPr sz="28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Necesitamos reconocer que la dureza en el servicio no es virtud — es falta de amor.</a:t>
            </a:r>
          </a:p>
        </p:txBody>
      </p:sp>
    </p:spTree>
    <p:extLst>
      <p:ext uri="{BB962C8B-B14F-4D97-AF65-F5344CB8AC3E}">
        <p14:creationId xmlns:p14="http://schemas.microsoft.com/office/powerpoint/2010/main" val="1587883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840200" y="533400"/>
            <a:ext cx="838200" cy="838200"/>
          </a:xfrm>
          <a:prstGeom prst="rect">
            <a:avLst/>
          </a:prstGeom>
        </p:spPr>
      </p:pic>
      <p:sp>
        <p:nvSpPr>
          <p:cNvPr id="2" name="point-03">
            <a:extLst>
              <a:ext uri="{FF2B5EF4-FFF2-40B4-BE49-F238E27FC236}">
                <a16:creationId xmlns:a16="http://schemas.microsoft.com/office/drawing/2014/main" id="{BE94AB24-4E12-4947-9BC3-2A743F1BEC94}"/>
              </a:ext>
            </a:extLst>
          </p:cNvPr>
          <p:cNvSpPr>
            <a:spLocks noGrp="1"/>
          </p:cNvSpPr>
          <p:nvPr/>
        </p:nvSpPr>
        <p:spPr>
          <a:xfrm>
            <a:off x="1143000" y="1714500"/>
            <a:ext cx="666750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75625" lnSpcReduction="10000"/>
          </a:bodyPr>
          <a:lstStyle/>
          <a:p>
            <a:pPr>
              <a:defRPr sz="24000">
                <a:solidFill>
                  <a:srgbClr val="5DBE2C"/>
                </a:solidFill>
                <a:latin typeface="Anton"/>
                <a:ea typeface="Anton"/>
                <a:cs typeface="Anton"/>
              </a:defRPr>
            </a:pPr>
            <a:r>
              <a:rPr sz="24000">
                <a:solidFill>
                  <a:srgbClr val="5DBE2C"/>
                </a:solidFill>
                <a:latin typeface="Anton"/>
                <a:ea typeface="Anton"/>
                <a:cs typeface="Anton"/>
              </a:rPr>
              <a:t>03</a:t>
            </a:r>
          </a:p>
        </p:txBody>
      </p:sp>
      <p:sp>
        <p:nvSpPr>
          <p:cNvPr id="3" name="kicker">
            <a:extLst>
              <a:ext uri="{FF2B5EF4-FFF2-40B4-BE49-F238E27FC236}">
                <a16:creationId xmlns:a16="http://schemas.microsoft.com/office/drawing/2014/main" id="{84D8755D-F812-4675-8A4F-02CDE0233CF6}"/>
              </a:ext>
            </a:extLst>
          </p:cNvPr>
          <p:cNvSpPr>
            <a:spLocks noGrp="1"/>
          </p:cNvSpPr>
          <p:nvPr/>
        </p:nvSpPr>
        <p:spPr>
          <a:xfrm>
            <a:off x="1238250" y="4762500"/>
            <a:ext cx="723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1558" lnSpcReduction="10000"/>
          </a:bodyPr>
          <a:lstStyle/>
          <a:p>
            <a:pPr>
              <a:defRPr sz="3450" b="1">
                <a:solidFill>
                  <a:srgbClr val="4A9E22"/>
                </a:solidFill>
                <a:latin typeface="Montserrat"/>
                <a:ea typeface="Montserrat"/>
                <a:cs typeface="Montserrat"/>
              </a:defRPr>
            </a:pPr>
            <a:r>
              <a:rPr sz="3450" b="1">
                <a:solidFill>
                  <a:srgbClr val="4A9E22"/>
                </a:solidFill>
                <a:latin typeface="Montserrat"/>
                <a:ea typeface="Montserrat"/>
                <a:cs typeface="Montserrat"/>
              </a:rPr>
              <a:t>TERCER PUNTO</a:t>
            </a:r>
          </a:p>
        </p:txBody>
      </p:sp>
      <p:sp>
        <p:nvSpPr>
          <p:cNvPr id="4" name="point-title">
            <a:extLst>
              <a:ext uri="{FF2B5EF4-FFF2-40B4-BE49-F238E27FC236}">
                <a16:creationId xmlns:a16="http://schemas.microsoft.com/office/drawing/2014/main" id="{1BEE3AE9-A692-473C-832A-6139D70514CD}"/>
              </a:ext>
            </a:extLst>
          </p:cNvPr>
          <p:cNvSpPr>
            <a:spLocks noGrp="1"/>
          </p:cNvSpPr>
          <p:nvPr/>
        </p:nvSpPr>
        <p:spPr>
          <a:xfrm>
            <a:off x="1143000" y="5476875"/>
            <a:ext cx="13716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3384" lnSpcReduction="10000"/>
          </a:bodyPr>
          <a:lstStyle/>
          <a:p>
            <a:pPr>
              <a:defRPr sz="9900">
                <a:solidFill>
                  <a:srgbClr val="1A1A1A"/>
                </a:solidFill>
                <a:latin typeface="Anton"/>
                <a:ea typeface="Anton"/>
                <a:cs typeface="Anton"/>
              </a:defRPr>
            </a:pPr>
            <a:r>
              <a:rPr sz="9900">
                <a:solidFill>
                  <a:srgbClr val="1A1A1A"/>
                </a:solidFill>
                <a:latin typeface="Anton"/>
                <a:ea typeface="Anton"/>
                <a:cs typeface="Anton"/>
              </a:rPr>
              <a:t>UN AMOR QUE TRABAJA SIN COBRAR</a:t>
            </a:r>
          </a:p>
        </p:txBody>
      </p:sp>
      <p:sp>
        <p:nvSpPr>
          <p:cNvPr id="5" name="point-rule">
            <a:extLst>
              <a:ext uri="{FF2B5EF4-FFF2-40B4-BE49-F238E27FC236}">
                <a16:creationId xmlns:a16="http://schemas.microsoft.com/office/drawing/2014/main" id="{000725CF-FD68-4699-B0A0-8183D8A4020C}"/>
              </a:ext>
            </a:extLst>
          </p:cNvPr>
          <p:cNvSpPr>
            <a:spLocks noGrp="1"/>
          </p:cNvSpPr>
          <p:nvPr/>
        </p:nvSpPr>
        <p:spPr>
          <a:xfrm>
            <a:off x="1143000" y="8239125"/>
            <a:ext cx="1428750" cy="38100"/>
          </a:xfrm>
          <a:prstGeom prst="rect">
            <a:avLst/>
          </a:prstGeom>
          <a:solidFill>
            <a:srgbClr val="1A1A1A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128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column">
            <a:extLst>
              <a:ext uri="{FF2B5EF4-FFF2-40B4-BE49-F238E27FC236}">
                <a16:creationId xmlns:a16="http://schemas.microsoft.com/office/drawing/2014/main" id="{5C32EEAB-F70C-4F38-80C0-F446495BD471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7239000" cy="10287000"/>
          </a:xfrm>
          <a:prstGeom prst="rect">
            <a:avLst/>
          </a:prstGeom>
          <a:solidFill>
            <a:srgbClr val="1A1A1A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544550" y="3714750"/>
            <a:ext cx="2247900" cy="2247900"/>
          </a:xfrm>
          <a:prstGeom prst="rect">
            <a:avLst/>
          </a:prstGeom>
        </p:spPr>
      </p:pic>
      <p:sp>
        <p:nvSpPr>
          <p:cNvPr id="3" name="watermark-dim">
            <a:extLst>
              <a:ext uri="{FF2B5EF4-FFF2-40B4-BE49-F238E27FC236}">
                <a16:creationId xmlns:a16="http://schemas.microsoft.com/office/drawing/2014/main" id="{6F1557C6-5DE4-428B-9A4B-E0EBA7819A34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7239000" cy="10287000"/>
          </a:xfrm>
          <a:prstGeom prst="rect">
            <a:avLst/>
          </a:prstGeom>
          <a:solidFill>
            <a:srgbClr val="1A1A1A">
              <a:alpha val="84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image-label">
            <a:extLst>
              <a:ext uri="{FF2B5EF4-FFF2-40B4-BE49-F238E27FC236}">
                <a16:creationId xmlns:a16="http://schemas.microsoft.com/office/drawing/2014/main" id="{35A792B4-9496-424D-9E48-EE08F2B7115F}"/>
              </a:ext>
            </a:extLst>
          </p:cNvPr>
          <p:cNvSpPr>
            <a:spLocks noGrp="1"/>
          </p:cNvSpPr>
          <p:nvPr/>
        </p:nvSpPr>
        <p:spPr>
          <a:xfrm>
            <a:off x="11906250" y="4810125"/>
            <a:ext cx="552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2100" b="1">
                <a:solidFill>
                  <a:srgbClr val="F7F1E8">
                    <a:alpha val="42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7F1E8">
                    <a:alpha val="42000"/>
                  </a:srgbClr>
                </a:solidFill>
                <a:latin typeface="Montserrat"/>
                <a:ea typeface="Montserrat"/>
                <a:cs typeface="Montserrat"/>
              </a:rPr>
              <a:t>IMAGEN</a:t>
            </a:r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6840200" y="533400"/>
            <a:ext cx="838200" cy="838200"/>
          </a:xfrm>
          <a:prstGeom prst="rect">
            <a:avLst/>
          </a:prstGeom>
        </p:spPr>
      </p:pic>
      <p:sp>
        <p:nvSpPr>
          <p:cNvPr id="6" name="kicker">
            <a:extLst>
              <a:ext uri="{FF2B5EF4-FFF2-40B4-BE49-F238E27FC236}">
                <a16:creationId xmlns:a16="http://schemas.microsoft.com/office/drawing/2014/main" id="{FF7E70F9-9BE4-4C4D-B88B-D27C5ADC9C60}"/>
              </a:ext>
            </a:extLst>
          </p:cNvPr>
          <p:cNvSpPr>
            <a:spLocks noGrp="1"/>
          </p:cNvSpPr>
          <p:nvPr/>
        </p:nvSpPr>
        <p:spPr>
          <a:xfrm>
            <a:off x="1143000" y="15811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>
              <a:defRPr sz="2550" b="1">
                <a:solidFill>
                  <a:srgbClr val="4A9E22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4A9E22"/>
                </a:solidFill>
                <a:latin typeface="Montserrat"/>
                <a:ea typeface="Montserrat"/>
                <a:cs typeface="Montserrat"/>
              </a:rPr>
              <a:t>PUNTO 03 · A</a:t>
            </a:r>
          </a:p>
        </p:txBody>
      </p:sp>
      <p:sp>
        <p:nvSpPr>
          <p:cNvPr id="7" name="subpoint-title">
            <a:extLst>
              <a:ext uri="{FF2B5EF4-FFF2-40B4-BE49-F238E27FC236}">
                <a16:creationId xmlns:a16="http://schemas.microsoft.com/office/drawing/2014/main" id="{75DCCE2C-AB46-4F4A-99E9-B081AFF9EDCB}"/>
              </a:ext>
            </a:extLst>
          </p:cNvPr>
          <p:cNvSpPr>
            <a:spLocks noGrp="1"/>
          </p:cNvSpPr>
          <p:nvPr/>
        </p:nvSpPr>
        <p:spPr>
          <a:xfrm>
            <a:off x="1143000" y="2238375"/>
            <a:ext cx="8572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>
              <a:defRPr sz="4800" b="1">
                <a:solidFill>
                  <a:srgbClr val="1A1A1A"/>
                </a:solidFill>
                <a:latin typeface="Montserrat"/>
                <a:ea typeface="Montserrat"/>
                <a:cs typeface="Montserrat"/>
              </a:defRPr>
            </a:pPr>
            <a:r>
              <a:rPr sz="4800" b="1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Trabaja sin buscar ser carga</a:t>
            </a:r>
          </a:p>
        </p:txBody>
      </p:sp>
      <p:sp>
        <p:nvSpPr>
          <p:cNvPr id="8" name="subpoint-rule">
            <a:extLst>
              <a:ext uri="{FF2B5EF4-FFF2-40B4-BE49-F238E27FC236}">
                <a16:creationId xmlns:a16="http://schemas.microsoft.com/office/drawing/2014/main" id="{6DDC7ECA-040B-449F-8063-1696D1D5E601}"/>
              </a:ext>
            </a:extLst>
          </p:cNvPr>
          <p:cNvSpPr>
            <a:spLocks noGrp="1"/>
          </p:cNvSpPr>
          <p:nvPr/>
        </p:nvSpPr>
        <p:spPr>
          <a:xfrm>
            <a:off x="1143000" y="4629150"/>
            <a:ext cx="1143000" cy="38100"/>
          </a:xfrm>
          <a:prstGeom prst="rect">
            <a:avLst/>
          </a:prstGeom>
          <a:solidFill>
            <a:srgbClr val="5DBE2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ubpoint-body">
            <a:extLst>
              <a:ext uri="{FF2B5EF4-FFF2-40B4-BE49-F238E27FC236}">
                <a16:creationId xmlns:a16="http://schemas.microsoft.com/office/drawing/2014/main" id="{EE3722B3-3D89-42E9-A70D-AF93BE71CC71}"/>
              </a:ext>
            </a:extLst>
          </p:cNvPr>
          <p:cNvSpPr>
            <a:spLocks noGrp="1"/>
          </p:cNvSpPr>
          <p:nvPr/>
        </p:nvSpPr>
        <p:spPr>
          <a:xfrm>
            <a:off x="1143000" y="5048250"/>
            <a:ext cx="8096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>
              <a:defRPr sz="2850" b="1">
                <a:solidFill>
                  <a:srgbClr val="1A1A1A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Pablo trabajó de noche y de día para no pesar sobre la iglesia recién plantada. El amor no calcula lo que le deben.</a:t>
            </a:r>
          </a:p>
        </p:txBody>
      </p:sp>
      <p:sp>
        <p:nvSpPr>
          <p:cNvPr id="10" name="verse-pill">
            <a:extLst>
              <a:ext uri="{FF2B5EF4-FFF2-40B4-BE49-F238E27FC236}">
                <a16:creationId xmlns:a16="http://schemas.microsoft.com/office/drawing/2014/main" id="{5EF900D8-3207-4DA4-B22D-A3F026C2ADD8}"/>
              </a:ext>
            </a:extLst>
          </p:cNvPr>
          <p:cNvSpPr>
            <a:spLocks noGrp="1"/>
          </p:cNvSpPr>
          <p:nvPr/>
        </p:nvSpPr>
        <p:spPr>
          <a:xfrm>
            <a:off x="1143000" y="8667750"/>
            <a:ext cx="4953000" cy="609600"/>
          </a:xfrm>
          <a:prstGeom prst="roundRect">
            <a:avLst>
              <a:gd name="adj" fmla="val 50000"/>
            </a:avLst>
          </a:prstGeom>
          <a:solidFill>
            <a:srgbClr val="5DBE2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verse-reference">
            <a:extLst>
              <a:ext uri="{FF2B5EF4-FFF2-40B4-BE49-F238E27FC236}">
                <a16:creationId xmlns:a16="http://schemas.microsoft.com/office/drawing/2014/main" id="{215029E2-8AB8-4489-B3C1-30034D97B4E3}"/>
              </a:ext>
            </a:extLst>
          </p:cNvPr>
          <p:cNvSpPr>
            <a:spLocks noGrp="1"/>
          </p:cNvSpPr>
          <p:nvPr/>
        </p:nvSpPr>
        <p:spPr>
          <a:xfrm>
            <a:off x="1428750" y="8724900"/>
            <a:ext cx="438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2100" b="1">
                <a:solidFill>
                  <a:srgbClr val="1A1A1A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1 TESALONICENSES 2:9</a:t>
            </a:r>
          </a:p>
        </p:txBody>
      </p:sp>
      <p:pic>
        <p:nvPicPr>
          <p:cNvPr id="5" name="Imagen 4" descr="vector trabajando hombre sonriente dibujos animados labor 23132028 Vector  en Vecteezy">
            <a:extLst>
              <a:ext uri="{FF2B5EF4-FFF2-40B4-BE49-F238E27FC236}">
                <a16:creationId xmlns:a16="http://schemas.microsoft.com/office/drawing/2014/main" id="{CD52C3ED-FA1E-F7C5-CB49-56498BB067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658" r="18207"/>
          <a:stretch>
            <a:fillRect/>
          </a:stretch>
        </p:blipFill>
        <p:spPr>
          <a:xfrm>
            <a:off x="11049000" y="0"/>
            <a:ext cx="7239000" cy="10321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651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column">
            <a:extLst>
              <a:ext uri="{FF2B5EF4-FFF2-40B4-BE49-F238E27FC236}">
                <a16:creationId xmlns:a16="http://schemas.microsoft.com/office/drawing/2014/main" id="{09CBE01A-E031-4416-8AB3-4008A557C1F7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7239000" cy="10287000"/>
          </a:xfrm>
          <a:prstGeom prst="rect">
            <a:avLst/>
          </a:prstGeom>
          <a:solidFill>
            <a:srgbClr val="1A1A1A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544550" y="3714750"/>
            <a:ext cx="2247900" cy="2247900"/>
          </a:xfrm>
          <a:prstGeom prst="rect">
            <a:avLst/>
          </a:prstGeom>
        </p:spPr>
      </p:pic>
      <p:sp>
        <p:nvSpPr>
          <p:cNvPr id="3" name="watermark-dim">
            <a:extLst>
              <a:ext uri="{FF2B5EF4-FFF2-40B4-BE49-F238E27FC236}">
                <a16:creationId xmlns:a16="http://schemas.microsoft.com/office/drawing/2014/main" id="{B879BB91-7FCE-4B84-B9F0-EAA9445ABA37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7239000" cy="10287000"/>
          </a:xfrm>
          <a:prstGeom prst="rect">
            <a:avLst/>
          </a:prstGeom>
          <a:solidFill>
            <a:srgbClr val="1A1A1A">
              <a:alpha val="84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image-label">
            <a:extLst>
              <a:ext uri="{FF2B5EF4-FFF2-40B4-BE49-F238E27FC236}">
                <a16:creationId xmlns:a16="http://schemas.microsoft.com/office/drawing/2014/main" id="{53C84116-00C1-4F91-AC68-828DB79371AB}"/>
              </a:ext>
            </a:extLst>
          </p:cNvPr>
          <p:cNvSpPr>
            <a:spLocks noGrp="1"/>
          </p:cNvSpPr>
          <p:nvPr/>
        </p:nvSpPr>
        <p:spPr>
          <a:xfrm>
            <a:off x="11906250" y="4810125"/>
            <a:ext cx="552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2100" b="1">
                <a:solidFill>
                  <a:srgbClr val="F7F1E8">
                    <a:alpha val="42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7F1E8">
                    <a:alpha val="42000"/>
                  </a:srgbClr>
                </a:solidFill>
                <a:latin typeface="Montserrat"/>
                <a:ea typeface="Montserrat"/>
                <a:cs typeface="Montserrat"/>
              </a:rPr>
              <a:t>IMAGEN</a:t>
            </a:r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6840200" y="533400"/>
            <a:ext cx="838200" cy="838200"/>
          </a:xfrm>
          <a:prstGeom prst="rect">
            <a:avLst/>
          </a:prstGeom>
        </p:spPr>
      </p:pic>
      <p:sp>
        <p:nvSpPr>
          <p:cNvPr id="6" name="kicker">
            <a:extLst>
              <a:ext uri="{FF2B5EF4-FFF2-40B4-BE49-F238E27FC236}">
                <a16:creationId xmlns:a16="http://schemas.microsoft.com/office/drawing/2014/main" id="{B89799BE-32A4-4DD9-A277-BA0890B1F257}"/>
              </a:ext>
            </a:extLst>
          </p:cNvPr>
          <p:cNvSpPr>
            <a:spLocks noGrp="1"/>
          </p:cNvSpPr>
          <p:nvPr/>
        </p:nvSpPr>
        <p:spPr>
          <a:xfrm>
            <a:off x="1143000" y="15811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>
              <a:defRPr sz="2550" b="1">
                <a:solidFill>
                  <a:srgbClr val="4A9E22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4A9E22"/>
                </a:solidFill>
                <a:latin typeface="Montserrat"/>
                <a:ea typeface="Montserrat"/>
                <a:cs typeface="Montserrat"/>
              </a:rPr>
              <a:t>PUNTO 03 · B</a:t>
            </a:r>
          </a:p>
        </p:txBody>
      </p:sp>
      <p:sp>
        <p:nvSpPr>
          <p:cNvPr id="7" name="subpoint-title">
            <a:extLst>
              <a:ext uri="{FF2B5EF4-FFF2-40B4-BE49-F238E27FC236}">
                <a16:creationId xmlns:a16="http://schemas.microsoft.com/office/drawing/2014/main" id="{1B79EB3E-A46B-44C7-9C1B-6DFA1664C74E}"/>
              </a:ext>
            </a:extLst>
          </p:cNvPr>
          <p:cNvSpPr>
            <a:spLocks noGrp="1"/>
          </p:cNvSpPr>
          <p:nvPr/>
        </p:nvSpPr>
        <p:spPr>
          <a:xfrm>
            <a:off x="1143000" y="2238375"/>
            <a:ext cx="8572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>
              <a:defRPr sz="4200" b="1">
                <a:solidFill>
                  <a:srgbClr val="1A1A1A"/>
                </a:solidFill>
                <a:latin typeface="Montserrat"/>
                <a:ea typeface="Montserrat"/>
                <a:cs typeface="Montserrat"/>
              </a:defRPr>
            </a:pPr>
            <a:r>
              <a:rPr sz="4200" b="1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Renuncia a sus derechos por el bien del otro</a:t>
            </a:r>
          </a:p>
        </p:txBody>
      </p:sp>
      <p:sp>
        <p:nvSpPr>
          <p:cNvPr id="8" name="subpoint-rule">
            <a:extLst>
              <a:ext uri="{FF2B5EF4-FFF2-40B4-BE49-F238E27FC236}">
                <a16:creationId xmlns:a16="http://schemas.microsoft.com/office/drawing/2014/main" id="{14BE7DFA-D256-46A3-A19C-B7FD98B53F8E}"/>
              </a:ext>
            </a:extLst>
          </p:cNvPr>
          <p:cNvSpPr>
            <a:spLocks noGrp="1"/>
          </p:cNvSpPr>
          <p:nvPr/>
        </p:nvSpPr>
        <p:spPr>
          <a:xfrm>
            <a:off x="1143000" y="4629150"/>
            <a:ext cx="1143000" cy="38100"/>
          </a:xfrm>
          <a:prstGeom prst="rect">
            <a:avLst/>
          </a:prstGeom>
          <a:solidFill>
            <a:srgbClr val="5DBE2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ubpoint-body">
            <a:extLst>
              <a:ext uri="{FF2B5EF4-FFF2-40B4-BE49-F238E27FC236}">
                <a16:creationId xmlns:a16="http://schemas.microsoft.com/office/drawing/2014/main" id="{C3A3093A-3908-43FC-A710-124E5BC75670}"/>
              </a:ext>
            </a:extLst>
          </p:cNvPr>
          <p:cNvSpPr>
            <a:spLocks noGrp="1"/>
          </p:cNvSpPr>
          <p:nvPr/>
        </p:nvSpPr>
        <p:spPr>
          <a:xfrm>
            <a:off x="1143000" y="5048250"/>
            <a:ext cx="8096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>
              <a:defRPr sz="2850" b="1">
                <a:solidFill>
                  <a:srgbClr val="1A1A1A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Tenían derecho reconocido a ser sostenidos (1 Corintios 9). Lo conocían. Decidieron no ejercerlo. El amor elige el sacrificio cuando hay una razón mayor.</a:t>
            </a:r>
          </a:p>
        </p:txBody>
      </p:sp>
      <p:sp>
        <p:nvSpPr>
          <p:cNvPr id="10" name="verse-pill">
            <a:extLst>
              <a:ext uri="{FF2B5EF4-FFF2-40B4-BE49-F238E27FC236}">
                <a16:creationId xmlns:a16="http://schemas.microsoft.com/office/drawing/2014/main" id="{51EFA5B0-024C-4656-B713-724A59936F82}"/>
              </a:ext>
            </a:extLst>
          </p:cNvPr>
          <p:cNvSpPr>
            <a:spLocks noGrp="1"/>
          </p:cNvSpPr>
          <p:nvPr/>
        </p:nvSpPr>
        <p:spPr>
          <a:xfrm>
            <a:off x="1143000" y="8667750"/>
            <a:ext cx="4953000" cy="609600"/>
          </a:xfrm>
          <a:prstGeom prst="roundRect">
            <a:avLst>
              <a:gd name="adj" fmla="val 50000"/>
            </a:avLst>
          </a:prstGeom>
          <a:solidFill>
            <a:srgbClr val="5DBE2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verse-reference">
            <a:extLst>
              <a:ext uri="{FF2B5EF4-FFF2-40B4-BE49-F238E27FC236}">
                <a16:creationId xmlns:a16="http://schemas.microsoft.com/office/drawing/2014/main" id="{D65A18C0-5325-402E-8E00-D951373574EF}"/>
              </a:ext>
            </a:extLst>
          </p:cNvPr>
          <p:cNvSpPr>
            <a:spLocks noGrp="1"/>
          </p:cNvSpPr>
          <p:nvPr/>
        </p:nvSpPr>
        <p:spPr>
          <a:xfrm>
            <a:off x="1428750" y="8724900"/>
            <a:ext cx="438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2100" b="1">
                <a:solidFill>
                  <a:srgbClr val="1A1A1A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1 CORINTIOS 9</a:t>
            </a:r>
          </a:p>
        </p:txBody>
      </p:sp>
      <p:pic>
        <p:nvPicPr>
          <p:cNvPr id="5" name="Imagen 4" descr="hombre ayudando a su amigo a levantarse 3057783 Vector en Vecteezy">
            <a:extLst>
              <a:ext uri="{FF2B5EF4-FFF2-40B4-BE49-F238E27FC236}">
                <a16:creationId xmlns:a16="http://schemas.microsoft.com/office/drawing/2014/main" id="{409378E4-1E6B-FED4-DA94-8012D80B3E1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815" r="11111"/>
          <a:stretch>
            <a:fillRect/>
          </a:stretch>
        </p:blipFill>
        <p:spPr>
          <a:xfrm>
            <a:off x="10668000" y="0"/>
            <a:ext cx="7620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38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column">
            <a:extLst>
              <a:ext uri="{FF2B5EF4-FFF2-40B4-BE49-F238E27FC236}">
                <a16:creationId xmlns:a16="http://schemas.microsoft.com/office/drawing/2014/main" id="{5C795164-E4EF-401D-8633-1A1A1524F7B8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7239000" cy="10287000"/>
          </a:xfrm>
          <a:prstGeom prst="rect">
            <a:avLst/>
          </a:prstGeom>
          <a:solidFill>
            <a:srgbClr val="1A1A1A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544550" y="3714750"/>
            <a:ext cx="2247900" cy="2247900"/>
          </a:xfrm>
          <a:prstGeom prst="rect">
            <a:avLst/>
          </a:prstGeom>
        </p:spPr>
      </p:pic>
      <p:sp>
        <p:nvSpPr>
          <p:cNvPr id="3" name="watermark-dim">
            <a:extLst>
              <a:ext uri="{FF2B5EF4-FFF2-40B4-BE49-F238E27FC236}">
                <a16:creationId xmlns:a16="http://schemas.microsoft.com/office/drawing/2014/main" id="{E83580B8-626B-4D76-AD6E-E5D178CA7A18}"/>
              </a:ext>
            </a:extLst>
          </p:cNvPr>
          <p:cNvSpPr>
            <a:spLocks noGrp="1"/>
          </p:cNvSpPr>
          <p:nvPr/>
        </p:nvSpPr>
        <p:spPr>
          <a:xfrm>
            <a:off x="11049000" y="0"/>
            <a:ext cx="7239000" cy="10287000"/>
          </a:xfrm>
          <a:prstGeom prst="rect">
            <a:avLst/>
          </a:prstGeom>
          <a:solidFill>
            <a:srgbClr val="1A1A1A">
              <a:alpha val="84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image-label">
            <a:extLst>
              <a:ext uri="{FF2B5EF4-FFF2-40B4-BE49-F238E27FC236}">
                <a16:creationId xmlns:a16="http://schemas.microsoft.com/office/drawing/2014/main" id="{8E4AC395-359A-4F0D-BE3B-90C5F4D96468}"/>
              </a:ext>
            </a:extLst>
          </p:cNvPr>
          <p:cNvSpPr>
            <a:spLocks noGrp="1"/>
          </p:cNvSpPr>
          <p:nvPr/>
        </p:nvSpPr>
        <p:spPr>
          <a:xfrm>
            <a:off x="11906250" y="4810125"/>
            <a:ext cx="552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2100" b="1">
                <a:solidFill>
                  <a:srgbClr val="F7F1E8">
                    <a:alpha val="42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7F1E8">
                    <a:alpha val="42000"/>
                  </a:srgbClr>
                </a:solidFill>
                <a:latin typeface="Montserrat"/>
                <a:ea typeface="Montserrat"/>
                <a:cs typeface="Montserrat"/>
              </a:rPr>
              <a:t>IMAGEN</a:t>
            </a:r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6840200" y="533400"/>
            <a:ext cx="838200" cy="838200"/>
          </a:xfrm>
          <a:prstGeom prst="rect">
            <a:avLst/>
          </a:prstGeom>
        </p:spPr>
      </p:pic>
      <p:sp>
        <p:nvSpPr>
          <p:cNvPr id="6" name="kicker">
            <a:extLst>
              <a:ext uri="{FF2B5EF4-FFF2-40B4-BE49-F238E27FC236}">
                <a16:creationId xmlns:a16="http://schemas.microsoft.com/office/drawing/2014/main" id="{4CBD1DAB-3EE4-426E-9218-93D72B61D8A0}"/>
              </a:ext>
            </a:extLst>
          </p:cNvPr>
          <p:cNvSpPr>
            <a:spLocks noGrp="1"/>
          </p:cNvSpPr>
          <p:nvPr/>
        </p:nvSpPr>
        <p:spPr>
          <a:xfrm>
            <a:off x="1143000" y="1581150"/>
            <a:ext cx="781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>
              <a:defRPr sz="2550" b="1">
                <a:solidFill>
                  <a:srgbClr val="4A9E22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4A9E22"/>
                </a:solidFill>
                <a:latin typeface="Montserrat"/>
                <a:ea typeface="Montserrat"/>
                <a:cs typeface="Montserrat"/>
              </a:rPr>
              <a:t>PUNTO 03 · C</a:t>
            </a:r>
          </a:p>
        </p:txBody>
      </p:sp>
      <p:sp>
        <p:nvSpPr>
          <p:cNvPr id="7" name="subpoint-title">
            <a:extLst>
              <a:ext uri="{FF2B5EF4-FFF2-40B4-BE49-F238E27FC236}">
                <a16:creationId xmlns:a16="http://schemas.microsoft.com/office/drawing/2014/main" id="{500FFFA6-5A1F-4EE1-A851-AA48BF76CB66}"/>
              </a:ext>
            </a:extLst>
          </p:cNvPr>
          <p:cNvSpPr>
            <a:spLocks noGrp="1"/>
          </p:cNvSpPr>
          <p:nvPr/>
        </p:nvSpPr>
        <p:spPr>
          <a:xfrm>
            <a:off x="1143000" y="2238375"/>
            <a:ext cx="8572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>
              <a:defRPr sz="4800" b="1">
                <a:solidFill>
                  <a:srgbClr val="1A1A1A"/>
                </a:solidFill>
                <a:latin typeface="Montserrat"/>
                <a:ea typeface="Montserrat"/>
                <a:cs typeface="Montserrat"/>
              </a:defRPr>
            </a:pPr>
            <a:r>
              <a:rPr sz="4800" b="1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Predica el mensaje y da el ejemplo</a:t>
            </a:r>
          </a:p>
        </p:txBody>
      </p:sp>
      <p:sp>
        <p:nvSpPr>
          <p:cNvPr id="8" name="subpoint-rule">
            <a:extLst>
              <a:ext uri="{FF2B5EF4-FFF2-40B4-BE49-F238E27FC236}">
                <a16:creationId xmlns:a16="http://schemas.microsoft.com/office/drawing/2014/main" id="{AF5ED3FC-C3CC-42DF-9BFA-41A2C2CD918A}"/>
              </a:ext>
            </a:extLst>
          </p:cNvPr>
          <p:cNvSpPr>
            <a:spLocks noGrp="1"/>
          </p:cNvSpPr>
          <p:nvPr/>
        </p:nvSpPr>
        <p:spPr>
          <a:xfrm>
            <a:off x="1143000" y="4629150"/>
            <a:ext cx="1143000" cy="38100"/>
          </a:xfrm>
          <a:prstGeom prst="rect">
            <a:avLst/>
          </a:prstGeom>
          <a:solidFill>
            <a:srgbClr val="5DBE2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ubpoint-body">
            <a:extLst>
              <a:ext uri="{FF2B5EF4-FFF2-40B4-BE49-F238E27FC236}">
                <a16:creationId xmlns:a16="http://schemas.microsoft.com/office/drawing/2014/main" id="{84CDE4D6-267B-495A-BB2D-D92726CA0D38}"/>
              </a:ext>
            </a:extLst>
          </p:cNvPr>
          <p:cNvSpPr>
            <a:spLocks noGrp="1"/>
          </p:cNvSpPr>
          <p:nvPr/>
        </p:nvSpPr>
        <p:spPr>
          <a:xfrm>
            <a:off x="1143000" y="5048250"/>
            <a:ext cx="8096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>
              <a:defRPr sz="2850" b="1">
                <a:solidFill>
                  <a:srgbClr val="1A1A1A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No solo anunciaron el evangelio: dejaron un modelo de trabajo digno. El amor que sirve también forma carácter en los que observan.</a:t>
            </a:r>
          </a:p>
        </p:txBody>
      </p:sp>
      <p:sp>
        <p:nvSpPr>
          <p:cNvPr id="10" name="verse-pill">
            <a:extLst>
              <a:ext uri="{FF2B5EF4-FFF2-40B4-BE49-F238E27FC236}">
                <a16:creationId xmlns:a16="http://schemas.microsoft.com/office/drawing/2014/main" id="{E0F2BD5D-1718-4AC9-A221-589F4E45F131}"/>
              </a:ext>
            </a:extLst>
          </p:cNvPr>
          <p:cNvSpPr>
            <a:spLocks noGrp="1"/>
          </p:cNvSpPr>
          <p:nvPr/>
        </p:nvSpPr>
        <p:spPr>
          <a:xfrm>
            <a:off x="1143000" y="8667750"/>
            <a:ext cx="4953000" cy="609600"/>
          </a:xfrm>
          <a:prstGeom prst="roundRect">
            <a:avLst>
              <a:gd name="adj" fmla="val 50000"/>
            </a:avLst>
          </a:prstGeom>
          <a:solidFill>
            <a:srgbClr val="5DBE2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verse-reference">
            <a:extLst>
              <a:ext uri="{FF2B5EF4-FFF2-40B4-BE49-F238E27FC236}">
                <a16:creationId xmlns:a16="http://schemas.microsoft.com/office/drawing/2014/main" id="{4770BEBD-F2CA-4863-B3D3-BB9B2FAC96A8}"/>
              </a:ext>
            </a:extLst>
          </p:cNvPr>
          <p:cNvSpPr>
            <a:spLocks noGrp="1"/>
          </p:cNvSpPr>
          <p:nvPr/>
        </p:nvSpPr>
        <p:spPr>
          <a:xfrm>
            <a:off x="1428750" y="8724900"/>
            <a:ext cx="438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2100" b="1">
                <a:solidFill>
                  <a:srgbClr val="1A1A1A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1A1A1A"/>
                </a:solidFill>
                <a:latin typeface="Montserrat"/>
                <a:ea typeface="Montserrat"/>
                <a:cs typeface="Montserrat"/>
              </a:rPr>
              <a:t>1 TESALONICENSES 2:9</a:t>
            </a:r>
          </a:p>
        </p:txBody>
      </p:sp>
      <p:pic>
        <p:nvPicPr>
          <p:cNvPr id="5" name="Imagen 4" descr="Predicando libros de la Biblia en series por Matias Aguilera - NUESTRA  GENERACIÓN">
            <a:extLst>
              <a:ext uri="{FF2B5EF4-FFF2-40B4-BE49-F238E27FC236}">
                <a16:creationId xmlns:a16="http://schemas.microsoft.com/office/drawing/2014/main" id="{1F58C25D-9794-9A7D-5F9F-FDA713CDD25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930"/>
          <a:stretch>
            <a:fillRect/>
          </a:stretch>
        </p:blipFill>
        <p:spPr>
          <a:xfrm>
            <a:off x="11049000" y="0"/>
            <a:ext cx="7239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5064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840200" y="533400"/>
            <a:ext cx="838200" cy="838200"/>
          </a:xfrm>
          <a:prstGeom prst="rect">
            <a:avLst/>
          </a:prstGeom>
        </p:spPr>
      </p:pic>
      <p:sp>
        <p:nvSpPr>
          <p:cNvPr id="2" name="application-box">
            <a:extLst>
              <a:ext uri="{FF2B5EF4-FFF2-40B4-BE49-F238E27FC236}">
                <a16:creationId xmlns:a16="http://schemas.microsoft.com/office/drawing/2014/main" id="{135FB36B-0115-4365-AFD4-A9F421C28C30}"/>
              </a:ext>
            </a:extLst>
          </p:cNvPr>
          <p:cNvSpPr>
            <a:spLocks noGrp="1"/>
          </p:cNvSpPr>
          <p:nvPr/>
        </p:nvSpPr>
        <p:spPr>
          <a:xfrm>
            <a:off x="2238375" y="2190750"/>
            <a:ext cx="13811250" cy="5905500"/>
          </a:xfrm>
          <a:prstGeom prst="roundRect">
            <a:avLst>
              <a:gd name="adj" fmla="val 2258"/>
            </a:avLst>
          </a:prstGeom>
          <a:solidFill>
            <a:srgbClr val="1A1A1A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  <p:txBody>
          <a:bodyPr/>
          <a:lstStyle/>
          <a:p>
            <a:endParaRPr lang="es-ES"/>
          </a:p>
        </p:txBody>
      </p:sp>
      <p:sp>
        <p:nvSpPr>
          <p:cNvPr id="3" name="kicker">
            <a:extLst>
              <a:ext uri="{FF2B5EF4-FFF2-40B4-BE49-F238E27FC236}">
                <a16:creationId xmlns:a16="http://schemas.microsoft.com/office/drawing/2014/main" id="{CF05F676-EC80-459A-A90A-08000062CC6E}"/>
              </a:ext>
            </a:extLst>
          </p:cNvPr>
          <p:cNvSpPr>
            <a:spLocks noGrp="1"/>
          </p:cNvSpPr>
          <p:nvPr/>
        </p:nvSpPr>
        <p:spPr>
          <a:xfrm>
            <a:off x="2952750" y="2876550"/>
            <a:ext cx="685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88055" lnSpcReduction="10000"/>
          </a:bodyPr>
          <a:lstStyle/>
          <a:p>
            <a:pPr>
              <a:defRPr sz="3600" b="1">
                <a:solidFill>
                  <a:srgbClr val="5DBE2C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5DBE2C"/>
                </a:solidFill>
                <a:latin typeface="Montserrat"/>
                <a:ea typeface="Montserrat"/>
                <a:cs typeface="Montserrat"/>
              </a:rPr>
              <a:t>APLICACIÓN</a:t>
            </a:r>
          </a:p>
        </p:txBody>
      </p:sp>
      <p:sp>
        <p:nvSpPr>
          <p:cNvPr id="4" name="application-main">
            <a:extLst>
              <a:ext uri="{FF2B5EF4-FFF2-40B4-BE49-F238E27FC236}">
                <a16:creationId xmlns:a16="http://schemas.microsoft.com/office/drawing/2014/main" id="{926E69ED-AD5F-4EA0-8FC1-E2F8315ABBF9}"/>
              </a:ext>
            </a:extLst>
          </p:cNvPr>
          <p:cNvSpPr>
            <a:spLocks noGrp="1"/>
          </p:cNvSpPr>
          <p:nvPr/>
        </p:nvSpPr>
        <p:spPr>
          <a:xfrm>
            <a:off x="2952750" y="3667125"/>
            <a:ext cx="123825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>
              <a:defRPr sz="4500" b="1">
                <a:solidFill>
                  <a:srgbClr val="F7F1E8"/>
                </a:solidFill>
                <a:latin typeface="Montserrat"/>
                <a:ea typeface="Montserrat"/>
                <a:cs typeface="Montserrat"/>
              </a:defRPr>
            </a:pPr>
            <a:r>
              <a:rPr sz="4500" b="1">
                <a:solidFill>
                  <a:srgbClr val="F7F1E8"/>
                </a:solidFill>
                <a:latin typeface="Montserrat"/>
                <a:ea typeface="Montserrat"/>
                <a:cs typeface="Montserrat"/>
              </a:rPr>
              <a:t>¿Debemos preguntarnos si usamos el servicio para recibir reconocimiento, o para genuinamente no ser carga?</a:t>
            </a:r>
          </a:p>
        </p:txBody>
      </p:sp>
      <p:sp>
        <p:nvSpPr>
          <p:cNvPr id="5" name="application-accent">
            <a:extLst>
              <a:ext uri="{FF2B5EF4-FFF2-40B4-BE49-F238E27FC236}">
                <a16:creationId xmlns:a16="http://schemas.microsoft.com/office/drawing/2014/main" id="{D0528C7E-9898-4EC7-B43F-A6852F298EAB}"/>
              </a:ext>
            </a:extLst>
          </p:cNvPr>
          <p:cNvSpPr>
            <a:spLocks noGrp="1"/>
          </p:cNvSpPr>
          <p:nvPr/>
        </p:nvSpPr>
        <p:spPr>
          <a:xfrm>
            <a:off x="2952750" y="6267450"/>
            <a:ext cx="1809750" cy="133350"/>
          </a:xfrm>
          <a:prstGeom prst="rect">
            <a:avLst/>
          </a:prstGeom>
          <a:solidFill>
            <a:srgbClr val="5DBE2C"/>
          </a:solidFill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application-secondary">
            <a:extLst>
              <a:ext uri="{FF2B5EF4-FFF2-40B4-BE49-F238E27FC236}">
                <a16:creationId xmlns:a16="http://schemas.microsoft.com/office/drawing/2014/main" id="{6EC38ACF-468A-4F34-9534-013DA2764779}"/>
              </a:ext>
            </a:extLst>
          </p:cNvPr>
          <p:cNvSpPr>
            <a:spLocks noGrp="1"/>
          </p:cNvSpPr>
          <p:nvPr/>
        </p:nvSpPr>
        <p:spPr>
          <a:xfrm>
            <a:off x="2952750" y="6667500"/>
            <a:ext cx="11144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 fontScale="92500"/>
          </a:bodyPr>
          <a:lstStyle/>
          <a:p>
            <a:pPr>
              <a:defRPr sz="31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1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Necesitamos evaluar qué esperamos cuando servimos.</a:t>
            </a:r>
          </a:p>
        </p:txBody>
      </p:sp>
    </p:spTree>
    <p:extLst>
      <p:ext uri="{BB962C8B-B14F-4D97-AF65-F5344CB8AC3E}">
        <p14:creationId xmlns:p14="http://schemas.microsoft.com/office/powerpoint/2010/main" val="1728263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77250" y="1428750"/>
            <a:ext cx="1333500" cy="1333500"/>
          </a:xfrm>
          <a:prstGeom prst="rect">
            <a:avLst/>
          </a:prstGeom>
        </p:spPr>
      </p:pic>
      <p:sp>
        <p:nvSpPr>
          <p:cNvPr id="2" name="closing-quote">
            <a:extLst>
              <a:ext uri="{FF2B5EF4-FFF2-40B4-BE49-F238E27FC236}">
                <a16:creationId xmlns:a16="http://schemas.microsoft.com/office/drawing/2014/main" id="{90A0B179-FA8B-4307-972A-8D850734B099}"/>
              </a:ext>
            </a:extLst>
          </p:cNvPr>
          <p:cNvSpPr>
            <a:spLocks noGrp="1"/>
          </p:cNvSpPr>
          <p:nvPr/>
        </p:nvSpPr>
        <p:spPr>
          <a:xfrm>
            <a:off x="1714500" y="3381375"/>
            <a:ext cx="1485900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5850" i="1">
                <a:solidFill>
                  <a:srgbClr val="F7F1E8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5850" i="1">
                <a:solidFill>
                  <a:srgbClr val="F7F1E8"/>
                </a:solidFill>
                <a:latin typeface="Playfair Display"/>
                <a:ea typeface="Playfair Display"/>
                <a:cs typeface="Playfair Display"/>
              </a:rPr>
              <a:t>“El amor de Cristo es el combustible que mueve la maquinaria de nuestros afectos.”</a:t>
            </a:r>
          </a:p>
        </p:txBody>
      </p:sp>
      <p:sp>
        <p:nvSpPr>
          <p:cNvPr id="3" name="closing-attribution">
            <a:extLst>
              <a:ext uri="{FF2B5EF4-FFF2-40B4-BE49-F238E27FC236}">
                <a16:creationId xmlns:a16="http://schemas.microsoft.com/office/drawing/2014/main" id="{156D2342-D59B-418E-98CF-90796B5E56F1}"/>
              </a:ext>
            </a:extLst>
          </p:cNvPr>
          <p:cNvSpPr>
            <a:spLocks noGrp="1"/>
          </p:cNvSpPr>
          <p:nvPr/>
        </p:nvSpPr>
        <p:spPr>
          <a:xfrm>
            <a:off x="4953000" y="60960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2550" b="1">
                <a:solidFill>
                  <a:srgbClr val="5DBE2C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5DBE2C"/>
                </a:solidFill>
                <a:latin typeface="Montserrat"/>
                <a:ea typeface="Montserrat"/>
                <a:cs typeface="Montserrat"/>
              </a:rPr>
              <a:t>SUGEL MICHELÉN</a:t>
            </a:r>
          </a:p>
        </p:txBody>
      </p:sp>
      <p:sp>
        <p:nvSpPr>
          <p:cNvPr id="4" name="meeting-signature">
            <a:extLst>
              <a:ext uri="{FF2B5EF4-FFF2-40B4-BE49-F238E27FC236}">
                <a16:creationId xmlns:a16="http://schemas.microsoft.com/office/drawing/2014/main" id="{23F0FDBB-FE55-46D7-9F37-9473F7A14A38}"/>
              </a:ext>
            </a:extLst>
          </p:cNvPr>
          <p:cNvSpPr>
            <a:spLocks noGrp="1"/>
          </p:cNvSpPr>
          <p:nvPr/>
        </p:nvSpPr>
        <p:spPr>
          <a:xfrm>
            <a:off x="3429000" y="7477125"/>
            <a:ext cx="11430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2250" b="1">
                <a:solidFill>
                  <a:srgbClr val="5DBE2C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5DBE2C"/>
                </a:solidFill>
                <a:latin typeface="Montserrat"/>
                <a:ea typeface="Montserrat"/>
                <a:cs typeface="Montserrat"/>
              </a:rPr>
              <a:t>IGLESIA EL RENUEVO · MCYM · REUNIÓN GENERAL</a:t>
            </a:r>
          </a:p>
        </p:txBody>
      </p:sp>
    </p:spTree>
    <p:extLst>
      <p:ext uri="{BB962C8B-B14F-4D97-AF65-F5344CB8AC3E}">
        <p14:creationId xmlns:p14="http://schemas.microsoft.com/office/powerpoint/2010/main" val="40766327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El Renuevo Predica General">
      <a:dk1>
        <a:srgbClr val="000000"/>
      </a:dk1>
      <a:lt1>
        <a:srgbClr val="FFFFFF"/>
      </a:lt1>
      <a:dk2>
        <a:srgbClr val="1A1A1A"/>
      </a:dk2>
      <a:lt2>
        <a:srgbClr val="F7F1E8"/>
      </a:lt2>
      <a:accent1>
        <a:srgbClr val="5DBE2C"/>
      </a:accent1>
      <a:accent2>
        <a:srgbClr val="4A9E22"/>
      </a:accent2>
      <a:accent3>
        <a:srgbClr val="F7F1E8"/>
      </a:accent3>
      <a:accent4>
        <a:srgbClr val="1A1A1A"/>
      </a:accent4>
      <a:accent5>
        <a:srgbClr val="2A2A2A"/>
      </a:accent5>
      <a:accent6>
        <a:srgbClr val="FFFFFF"/>
      </a:accent6>
      <a:hlink>
        <a:srgbClr val="5DBE2C"/>
      </a:hlink>
      <a:folHlink>
        <a:srgbClr val="4A9E2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l Renuevo Predica Gener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571500" dist="228600" dir="5400000">
              <a:srgbClr val="1A1A1A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El Renuevo Predica General">
      <a:dk1>
        <a:srgbClr val="000000"/>
      </a:dk1>
      <a:lt1>
        <a:srgbClr val="FFFFFF"/>
      </a:lt1>
      <a:dk2>
        <a:srgbClr val="1A1A1A"/>
      </a:dk2>
      <a:lt2>
        <a:srgbClr val="F7F1E8"/>
      </a:lt2>
      <a:accent1>
        <a:srgbClr val="5DBE2C"/>
      </a:accent1>
      <a:accent2>
        <a:srgbClr val="4A9E22"/>
      </a:accent2>
      <a:accent3>
        <a:srgbClr val="F7F1E8"/>
      </a:accent3>
      <a:accent4>
        <a:srgbClr val="1A1A1A"/>
      </a:accent4>
      <a:accent5>
        <a:srgbClr val="2A2A2A"/>
      </a:accent5>
      <a:accent6>
        <a:srgbClr val="FFFFFF"/>
      </a:accent6>
      <a:hlink>
        <a:srgbClr val="5DBE2C"/>
      </a:hlink>
      <a:folHlink>
        <a:srgbClr val="4A9E2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l Renuevo Predica Gener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571500" dist="228600" dir="5400000">
              <a:srgbClr val="1A1A1A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593</Words>
  <Application>Microsoft Office PowerPoint</Application>
  <DocSecurity>0</DocSecurity>
  <PresentationFormat>Personalizado</PresentationFormat>
  <Paragraphs>71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Anton</vt:lpstr>
      <vt:lpstr>Calibri</vt:lpstr>
      <vt:lpstr>Montserrat</vt:lpstr>
      <vt:lpstr>Playfair Display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Pablo Misael Peloc</cp:lastModifiedBy>
  <cp:revision>1</cp:revision>
  <dcterms:created xsi:type="dcterms:W3CDTF">2026-06-18T23:18:26Z</dcterms:created>
  <dcterms:modified xsi:type="dcterms:W3CDTF">2026-06-18T23:35:50Z</dcterms:modified>
</cp:coreProperties>
</file>